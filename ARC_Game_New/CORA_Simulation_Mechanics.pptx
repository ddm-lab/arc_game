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2011680"/>
          </a:xfrm>
          <a:prstGeom prst="rect">
            <a:avLst/>
          </a:prstGeom>
          <a:noFill/>
        </p:spPr>
        <p:txBody>
          <a:bodyPr wrap="square" anchor="t">
            <a:spAutoFit/>
          </a:bodyPr>
          <a:lstStyle/>
          <a:p>
            <a:pPr algn="l">
              <a:spcAft>
                <a:spcPts val="600"/>
              </a:spcAft>
            </a:pPr>
            <a:r>
              <a:rPr sz="4000" b="1">
                <a:solidFill>
                  <a:srgbClr val="FFFFFF"/>
                </a:solidFill>
                <a:latin typeface="Calibri"/>
              </a:rPr>
              <a:t>CORA Disaster-Response Simulation</a:t>
            </a:r>
          </a:p>
          <a:p>
            <a:pPr algn="l">
              <a:spcAft>
                <a:spcPts val="600"/>
              </a:spcAft>
            </a:pPr>
            <a:r>
              <a:rPr sz="4000" b="1">
                <a:solidFill>
                  <a:srgbClr val="2E75B6"/>
                </a:solidFill>
                <a:latin typeface="Calibri"/>
              </a:rPr>
              <a:t>Current Game Mechanics</a:t>
            </a:r>
          </a:p>
        </p:txBody>
      </p:sp>
      <p:sp>
        <p:nvSpPr>
          <p:cNvPr id="5" name="TextBox 4"/>
          <p:cNvSpPr txBox="1"/>
          <p:nvPr/>
        </p:nvSpPr>
        <p:spPr>
          <a:xfrm>
            <a:off x="841248" y="4434840"/>
            <a:ext cx="10515600" cy="1463040"/>
          </a:xfrm>
          <a:prstGeom prst="rect">
            <a:avLst/>
          </a:prstGeom>
          <a:noFill/>
        </p:spPr>
        <p:txBody>
          <a:bodyPr wrap="square" anchor="t">
            <a:spAutoFit/>
          </a:bodyPr>
          <a:lstStyle/>
          <a:p>
            <a:pPr algn="l">
              <a:spcAft>
                <a:spcPts val="800"/>
              </a:spcAft>
            </a:pPr>
            <a:r>
              <a:rPr sz="1800" b="0">
                <a:solidFill>
                  <a:srgbClr val="CFDDEE"/>
                </a:solidFill>
                <a:latin typeface="Calibri"/>
              </a:rPr>
              <a:t>Transport &amp; delivery  ·  Food production / consumption / waste  ·  Population mass-flow</a:t>
            </a:r>
          </a:p>
          <a:p>
            <a:pPr algn="l">
              <a:spcAft>
                <a:spcPts val="800"/>
              </a:spcAft>
            </a:pPr>
            <a:r>
              <a:rPr sz="1400" b="0">
                <a:solidFill>
                  <a:srgbClr val="9FB3CC"/>
                </a:solidFill>
                <a:latin typeface="Calibri"/>
              </a:rPr>
              <a:t>Unity headless build + Python gym  ·  32-round horizon, 4 rounds/day  ·  reward = satisfaction − cost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The board at a glance</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0972800" cy="457200"/>
          </a:xfrm>
          <a:prstGeom prst="rect">
            <a:avLst/>
          </a:prstGeom>
          <a:noFill/>
        </p:spPr>
        <p:txBody>
          <a:bodyPr wrap="square" anchor="t">
            <a:spAutoFit/>
          </a:bodyPr>
          <a:lstStyle/>
          <a:p>
            <a:pPr algn="l"/>
            <a:r>
              <a:rPr sz="1600" b="1">
                <a:solidFill>
                  <a:srgbClr val="595959"/>
                </a:solidFill>
                <a:latin typeface="Calibri"/>
              </a:rPr>
              <a:t>Buildings, capacities, and the recurring constraints</a:t>
            </a:r>
          </a:p>
        </p:txBody>
      </p:sp>
      <p:graphicFrame>
        <p:nvGraphicFramePr>
          <p:cNvPr id="6" name="Table 5"/>
          <p:cNvGraphicFramePr>
            <a:graphicFrameLocks noGrp="1"/>
          </p:cNvGraphicFramePr>
          <p:nvPr/>
        </p:nvGraphicFramePr>
        <p:xfrm>
          <a:off x="502920" y="1783080"/>
          <a:ext cx="7772400" cy="3291840"/>
        </p:xfrm>
        <a:graphic>
          <a:graphicData uri="http://schemas.openxmlformats.org/drawingml/2006/table">
            <a:tbl>
              <a:tblPr firstRow="1" bandRow="1">
                <a:tableStyleId>{5C22544A-7EE6-4342-B048-85BDC9FD1C3A}</a:tableStyleId>
              </a:tblPr>
              <a:tblGrid>
                <a:gridCol w="1554480"/>
                <a:gridCol w="914400"/>
                <a:gridCol w="914400"/>
                <a:gridCol w="868680"/>
                <a:gridCol w="960120"/>
                <a:gridCol w="2560320"/>
              </a:tblGrid>
              <a:tr h="548640">
                <a:tc>
                  <a:txBody>
                    <a:bodyPr/>
                    <a:lstStyle/>
                    <a:p>
                      <a:pPr algn="l"/>
                      <a:r>
                        <a:rPr sz="1150" b="1">
                          <a:solidFill>
                            <a:srgbClr val="FFFFFF"/>
                          </a:solidFill>
                          <a:latin typeface="Calibri"/>
                        </a:rPr>
                        <a:t>Building</a:t>
                      </a:r>
                    </a:p>
                  </a:txBody>
                  <a:tcPr>
                    <a:solidFill>
                      <a:srgbClr val="1F3A5F"/>
                    </a:solidFill>
                  </a:tcPr>
                </a:tc>
                <a:tc>
                  <a:txBody>
                    <a:bodyPr/>
                    <a:lstStyle/>
                    <a:p>
                      <a:pPr algn="ctr"/>
                      <a:r>
                        <a:rPr sz="1150" b="1">
                          <a:solidFill>
                            <a:srgbClr val="FFFFFF"/>
                          </a:solidFill>
                          <a:latin typeface="Calibri"/>
                        </a:rPr>
                        <a:t>Pop cap</a:t>
                      </a:r>
                    </a:p>
                  </a:txBody>
                  <a:tcPr>
                    <a:solidFill>
                      <a:srgbClr val="1F3A5F"/>
                    </a:solidFill>
                  </a:tcPr>
                </a:tc>
                <a:tc>
                  <a:txBody>
                    <a:bodyPr/>
                    <a:lstStyle/>
                    <a:p>
                      <a:pPr algn="ctr"/>
                      <a:r>
                        <a:rPr sz="1150" b="1">
                          <a:solidFill>
                            <a:srgbClr val="FFFFFF"/>
                          </a:solidFill>
                          <a:latin typeface="Calibri"/>
                        </a:rPr>
                        <a:t>Food cap</a:t>
                      </a:r>
                    </a:p>
                  </a:txBody>
                  <a:tcPr>
                    <a:solidFill>
                      <a:srgbClr val="1F3A5F"/>
                    </a:solidFill>
                  </a:tcPr>
                </a:tc>
                <a:tc>
                  <a:txBody>
                    <a:bodyPr/>
                    <a:lstStyle/>
                    <a:p>
                      <a:pPr algn="ctr"/>
                      <a:r>
                        <a:rPr sz="1150" b="1">
                          <a:solidFill>
                            <a:srgbClr val="FFFFFF"/>
                          </a:solidFill>
                          <a:latin typeface="Calibri"/>
                        </a:rPr>
                        <a:t>Workers</a:t>
                      </a:r>
                    </a:p>
                  </a:txBody>
                  <a:tcPr>
                    <a:solidFill>
                      <a:srgbClr val="1F3A5F"/>
                    </a:solidFill>
                  </a:tcPr>
                </a:tc>
                <a:tc>
                  <a:txBody>
                    <a:bodyPr/>
                    <a:lstStyle/>
                    <a:p>
                      <a:pPr algn="ctr"/>
                      <a:r>
                        <a:rPr sz="1150" b="1">
                          <a:solidFill>
                            <a:srgbClr val="FFFFFF"/>
                          </a:solidFill>
                          <a:latin typeface="Calibri"/>
                        </a:rPr>
                        <a:t>Cost</a:t>
                      </a:r>
                    </a:p>
                  </a:txBody>
                  <a:tcPr>
                    <a:solidFill>
                      <a:srgbClr val="1F3A5F"/>
                    </a:solidFill>
                  </a:tcPr>
                </a:tc>
                <a:tc>
                  <a:txBody>
                    <a:bodyPr/>
                    <a:lstStyle/>
                    <a:p>
                      <a:pPr algn="l"/>
                      <a:r>
                        <a:rPr sz="1150" b="1">
                          <a:solidFill>
                            <a:srgbClr val="FFFFFF"/>
                          </a:solidFill>
                          <a:latin typeface="Calibri"/>
                        </a:rPr>
                        <a:t>Role</a:t>
                      </a:r>
                    </a:p>
                  </a:txBody>
                  <a:tcPr>
                    <a:solidFill>
                      <a:srgbClr val="1F3A5F"/>
                    </a:solidFill>
                  </a:tcPr>
                </a:tc>
              </a:tr>
              <a:tr h="548640">
                <a:tc>
                  <a:txBody>
                    <a:bodyPr/>
                    <a:lstStyle/>
                    <a:p>
                      <a:pPr algn="l"/>
                      <a:r>
                        <a:rPr sz="1150">
                          <a:solidFill>
                            <a:srgbClr val="222222"/>
                          </a:solidFill>
                          <a:latin typeface="Calibri"/>
                        </a:rPr>
                        <a:t>Kitchen</a:t>
                      </a:r>
                    </a:p>
                  </a:txBody>
                  <a:tcPr>
                    <a:solidFill>
                      <a:srgbClr val="FFFFFF"/>
                    </a:solidFill>
                  </a:tcPr>
                </a:tc>
                <a:tc>
                  <a:txBody>
                    <a:bodyPr/>
                    <a:lstStyle/>
                    <a:p>
                      <a:pPr algn="ctr"/>
                      <a:r>
                        <a:rPr sz="1150">
                          <a:solidFill>
                            <a:srgbClr val="222222"/>
                          </a:solidFill>
                          <a:latin typeface="Calibri"/>
                        </a:rPr>
                        <a:t>—</a:t>
                      </a:r>
                    </a:p>
                  </a:txBody>
                  <a:tcPr>
                    <a:solidFill>
                      <a:srgbClr val="FFFFFF"/>
                    </a:solidFill>
                  </a:tcPr>
                </a:tc>
                <a:tc>
                  <a:txBody>
                    <a:bodyPr/>
                    <a:lstStyle/>
                    <a:p>
                      <a:pPr algn="ctr"/>
                      <a:r>
                        <a:rPr sz="1150">
                          <a:solidFill>
                            <a:srgbClr val="222222"/>
                          </a:solidFill>
                          <a:latin typeface="Calibri"/>
                        </a:rPr>
                        <a:t>20</a:t>
                      </a:r>
                    </a:p>
                  </a:txBody>
                  <a:tcPr>
                    <a:solidFill>
                      <a:srgbClr val="FFFFFF"/>
                    </a:solidFill>
                  </a:tcPr>
                </a:tc>
                <a:tc>
                  <a:txBody>
                    <a:bodyPr/>
                    <a:lstStyle/>
                    <a:p>
                      <a:pPr algn="ctr"/>
                      <a:r>
                        <a:rPr sz="1150">
                          <a:solidFill>
                            <a:srgbClr val="222222"/>
                          </a:solidFill>
                          <a:latin typeface="Calibri"/>
                        </a:rPr>
                        <a:t>4</a:t>
                      </a:r>
                    </a:p>
                  </a:txBody>
                  <a:tcPr>
                    <a:solidFill>
                      <a:srgbClr val="FFFFFF"/>
                    </a:solidFill>
                  </a:tcPr>
                </a:tc>
                <a:tc>
                  <a:txBody>
                    <a:bodyPr/>
                    <a:lstStyle/>
                    <a:p>
                      <a:pPr algn="ctr"/>
                      <a:r>
                        <a:rPr sz="1150">
                          <a:solidFill>
                            <a:srgbClr val="222222"/>
                          </a:solidFill>
                          <a:latin typeface="Calibri"/>
                        </a:rPr>
                        <a:t>$1000</a:t>
                      </a:r>
                    </a:p>
                  </a:txBody>
                  <a:tcPr>
                    <a:solidFill>
                      <a:srgbClr val="FFFFFF"/>
                    </a:solidFill>
                  </a:tcPr>
                </a:tc>
                <a:tc>
                  <a:txBody>
                    <a:bodyPr/>
                    <a:lstStyle/>
                    <a:p>
                      <a:pPr algn="l"/>
                      <a:r>
                        <a:rPr sz="1150">
                          <a:solidFill>
                            <a:srgbClr val="222222"/>
                          </a:solidFill>
                          <a:latin typeface="Calibri"/>
                        </a:rPr>
                        <a:t>produces 10 food / round</a:t>
                      </a:r>
                    </a:p>
                  </a:txBody>
                  <a:tcPr>
                    <a:solidFill>
                      <a:srgbClr val="FFFFFF"/>
                    </a:solidFill>
                  </a:tcPr>
                </a:tc>
              </a:tr>
              <a:tr h="548640">
                <a:tc>
                  <a:txBody>
                    <a:bodyPr/>
                    <a:lstStyle/>
                    <a:p>
                      <a:pPr algn="l"/>
                      <a:r>
                        <a:rPr sz="1150">
                          <a:solidFill>
                            <a:srgbClr val="222222"/>
                          </a:solidFill>
                          <a:latin typeface="Calibri"/>
                        </a:rPr>
                        <a:t>Shelter</a:t>
                      </a:r>
                    </a:p>
                  </a:txBody>
                  <a:tcPr>
                    <a:solidFill>
                      <a:srgbClr val="F2F2F2"/>
                    </a:solidFill>
                  </a:tcPr>
                </a:tc>
                <a:tc>
                  <a:txBody>
                    <a:bodyPr/>
                    <a:lstStyle/>
                    <a:p>
                      <a:pPr algn="ctr"/>
                      <a:r>
                        <a:rPr sz="1150">
                          <a:solidFill>
                            <a:srgbClr val="222222"/>
                          </a:solidFill>
                          <a:latin typeface="Calibri"/>
                        </a:rPr>
                        <a:t>10</a:t>
                      </a:r>
                    </a:p>
                  </a:txBody>
                  <a:tcPr>
                    <a:solidFill>
                      <a:srgbClr val="F2F2F2"/>
                    </a:solidFill>
                  </a:tcPr>
                </a:tc>
                <a:tc>
                  <a:txBody>
                    <a:bodyPr/>
                    <a:lstStyle/>
                    <a:p>
                      <a:pPr algn="ctr"/>
                      <a:r>
                        <a:rPr sz="1150">
                          <a:solidFill>
                            <a:srgbClr val="222222"/>
                          </a:solidFill>
                          <a:latin typeface="Calibri"/>
                        </a:rPr>
                        <a:t>10</a:t>
                      </a:r>
                    </a:p>
                  </a:txBody>
                  <a:tcPr>
                    <a:solidFill>
                      <a:srgbClr val="F2F2F2"/>
                    </a:solidFill>
                  </a:tcPr>
                </a:tc>
                <a:tc>
                  <a:txBody>
                    <a:bodyPr/>
                    <a:lstStyle/>
                    <a:p>
                      <a:pPr algn="ctr"/>
                      <a:r>
                        <a:rPr sz="1150">
                          <a:solidFill>
                            <a:srgbClr val="222222"/>
                          </a:solidFill>
                          <a:latin typeface="Calibri"/>
                        </a:rPr>
                        <a:t>4</a:t>
                      </a:r>
                    </a:p>
                  </a:txBody>
                  <a:tcPr>
                    <a:solidFill>
                      <a:srgbClr val="F2F2F2"/>
                    </a:solidFill>
                  </a:tcPr>
                </a:tc>
                <a:tc>
                  <a:txBody>
                    <a:bodyPr/>
                    <a:lstStyle/>
                    <a:p>
                      <a:pPr algn="ctr"/>
                      <a:r>
                        <a:rPr sz="1150">
                          <a:solidFill>
                            <a:srgbClr val="222222"/>
                          </a:solidFill>
                          <a:latin typeface="Calibri"/>
                        </a:rPr>
                        <a:t>$1000</a:t>
                      </a:r>
                    </a:p>
                  </a:txBody>
                  <a:tcPr>
                    <a:solidFill>
                      <a:srgbClr val="F2F2F2"/>
                    </a:solidFill>
                  </a:tcPr>
                </a:tc>
                <a:tc>
                  <a:txBody>
                    <a:bodyPr/>
                    <a:lstStyle/>
                    <a:p>
                      <a:pPr algn="l"/>
                      <a:r>
                        <a:rPr sz="1150">
                          <a:solidFill>
                            <a:srgbClr val="222222"/>
                          </a:solidFill>
                          <a:latin typeface="Calibri"/>
                        </a:rPr>
                        <a:t>houses people; consumes food</a:t>
                      </a:r>
                    </a:p>
                  </a:txBody>
                  <a:tcPr>
                    <a:solidFill>
                      <a:srgbClr val="F2F2F2"/>
                    </a:solidFill>
                  </a:tcPr>
                </a:tc>
              </a:tr>
              <a:tr h="548640">
                <a:tc>
                  <a:txBody>
                    <a:bodyPr/>
                    <a:lstStyle/>
                    <a:p>
                      <a:pPr algn="l"/>
                      <a:r>
                        <a:rPr sz="1150">
                          <a:solidFill>
                            <a:srgbClr val="222222"/>
                          </a:solidFill>
                          <a:latin typeface="Calibri"/>
                        </a:rPr>
                        <a:t>CaseworkSite</a:t>
                      </a:r>
                    </a:p>
                  </a:txBody>
                  <a:tcPr>
                    <a:solidFill>
                      <a:srgbClr val="FFFFFF"/>
                    </a:solidFill>
                  </a:tcPr>
                </a:tc>
                <a:tc>
                  <a:txBody>
                    <a:bodyPr/>
                    <a:lstStyle/>
                    <a:p>
                      <a:pPr algn="ctr"/>
                      <a:r>
                        <a:rPr sz="1150">
                          <a:solidFill>
                            <a:srgbClr val="222222"/>
                          </a:solidFill>
                          <a:latin typeface="Calibri"/>
                        </a:rPr>
                        <a:t>40</a:t>
                      </a:r>
                    </a:p>
                  </a:txBody>
                  <a:tcPr>
                    <a:solidFill>
                      <a:srgbClr val="FFFFFF"/>
                    </a:solidFill>
                  </a:tcPr>
                </a:tc>
                <a:tc>
                  <a:txBody>
                    <a:bodyPr/>
                    <a:lstStyle/>
                    <a:p>
                      <a:pPr algn="ctr"/>
                      <a:r>
                        <a:rPr sz="1150">
                          <a:solidFill>
                            <a:srgbClr val="222222"/>
                          </a:solidFill>
                          <a:latin typeface="Calibri"/>
                        </a:rPr>
                        <a:t>—</a:t>
                      </a:r>
                    </a:p>
                  </a:txBody>
                  <a:tcPr>
                    <a:solidFill>
                      <a:srgbClr val="FFFFFF"/>
                    </a:solidFill>
                  </a:tcPr>
                </a:tc>
                <a:tc>
                  <a:txBody>
                    <a:bodyPr/>
                    <a:lstStyle/>
                    <a:p>
                      <a:pPr algn="ctr"/>
                      <a:r>
                        <a:rPr sz="1150">
                          <a:solidFill>
                            <a:srgbClr val="222222"/>
                          </a:solidFill>
                          <a:latin typeface="Calibri"/>
                        </a:rPr>
                        <a:t>4</a:t>
                      </a:r>
                    </a:p>
                  </a:txBody>
                  <a:tcPr>
                    <a:solidFill>
                      <a:srgbClr val="FFFFFF"/>
                    </a:solidFill>
                  </a:tcPr>
                </a:tc>
                <a:tc>
                  <a:txBody>
                    <a:bodyPr/>
                    <a:lstStyle/>
                    <a:p>
                      <a:pPr algn="ctr"/>
                      <a:r>
                        <a:rPr sz="1150">
                          <a:solidFill>
                            <a:srgbClr val="222222"/>
                          </a:solidFill>
                          <a:latin typeface="Calibri"/>
                        </a:rPr>
                        <a:t>$1000</a:t>
                      </a:r>
                    </a:p>
                  </a:txBody>
                  <a:tcPr>
                    <a:solidFill>
                      <a:srgbClr val="FFFFFF"/>
                    </a:solidFill>
                  </a:tcPr>
                </a:tc>
                <a:tc>
                  <a:txBody>
                    <a:bodyPr/>
                    <a:lstStyle/>
                    <a:p>
                      <a:pPr algn="l"/>
                      <a:r>
                        <a:rPr sz="1150">
                          <a:solidFill>
                            <a:srgbClr val="222222"/>
                          </a:solidFill>
                          <a:latin typeface="Calibri"/>
                        </a:rPr>
                        <a:t>processes people home (exit)</a:t>
                      </a:r>
                    </a:p>
                  </a:txBody>
                  <a:tcPr>
                    <a:solidFill>
                      <a:srgbClr val="FFFFFF"/>
                    </a:solidFill>
                  </a:tcPr>
                </a:tc>
              </a:tr>
              <a:tr h="548640">
                <a:tc>
                  <a:txBody>
                    <a:bodyPr/>
                    <a:lstStyle/>
                    <a:p>
                      <a:pPr algn="l"/>
                      <a:r>
                        <a:rPr sz="1150">
                          <a:solidFill>
                            <a:srgbClr val="222222"/>
                          </a:solidFill>
                          <a:latin typeface="Calibri"/>
                        </a:rPr>
                        <a:t>Community</a:t>
                      </a:r>
                    </a:p>
                  </a:txBody>
                  <a:tcPr>
                    <a:solidFill>
                      <a:srgbClr val="F2F2F2"/>
                    </a:solidFill>
                  </a:tcPr>
                </a:tc>
                <a:tc>
                  <a:txBody>
                    <a:bodyPr/>
                    <a:lstStyle/>
                    <a:p>
                      <a:pPr algn="ctr"/>
                      <a:r>
                        <a:rPr sz="1150">
                          <a:solidFill>
                            <a:srgbClr val="222222"/>
                          </a:solidFill>
                          <a:latin typeface="Calibri"/>
                        </a:rPr>
                        <a:t>40</a:t>
                      </a:r>
                    </a:p>
                  </a:txBody>
                  <a:tcPr>
                    <a:solidFill>
                      <a:srgbClr val="F2F2F2"/>
                    </a:solidFill>
                  </a:tcPr>
                </a:tc>
                <a:tc>
                  <a:txBody>
                    <a:bodyPr/>
                    <a:lstStyle/>
                    <a:p>
                      <a:pPr algn="ctr"/>
                      <a:r>
                        <a:rPr sz="1150">
                          <a:solidFill>
                            <a:srgbClr val="222222"/>
                          </a:solidFill>
                          <a:latin typeface="Calibri"/>
                        </a:rPr>
                        <a:t>40</a:t>
                      </a:r>
                    </a:p>
                  </a:txBody>
                  <a:tcPr>
                    <a:solidFill>
                      <a:srgbClr val="F2F2F2"/>
                    </a:solidFill>
                  </a:tcPr>
                </a:tc>
                <a:tc>
                  <a:txBody>
                    <a:bodyPr/>
                    <a:lstStyle/>
                    <a:p>
                      <a:pPr algn="ctr"/>
                      <a:r>
                        <a:rPr sz="1150">
                          <a:solidFill>
                            <a:srgbClr val="222222"/>
                          </a:solidFill>
                          <a:latin typeface="Calibri"/>
                        </a:rPr>
                        <a:t>—</a:t>
                      </a:r>
                    </a:p>
                  </a:txBody>
                  <a:tcPr>
                    <a:solidFill>
                      <a:srgbClr val="F2F2F2"/>
                    </a:solidFill>
                  </a:tcPr>
                </a:tc>
                <a:tc>
                  <a:txBody>
                    <a:bodyPr/>
                    <a:lstStyle/>
                    <a:p>
                      <a:pPr algn="ctr"/>
                      <a:r>
                        <a:rPr sz="1150">
                          <a:solidFill>
                            <a:srgbClr val="222222"/>
                          </a:solidFill>
                          <a:latin typeface="Calibri"/>
                        </a:rPr>
                        <a:t>prebuilt</a:t>
                      </a:r>
                    </a:p>
                  </a:txBody>
                  <a:tcPr>
                    <a:solidFill>
                      <a:srgbClr val="F2F2F2"/>
                    </a:solidFill>
                  </a:tcPr>
                </a:tc>
                <a:tc>
                  <a:txBody>
                    <a:bodyPr/>
                    <a:lstStyle/>
                    <a:p>
                      <a:pPr algn="l"/>
                      <a:r>
                        <a:rPr sz="1150">
                          <a:solidFill>
                            <a:srgbClr val="222222"/>
                          </a:solidFill>
                          <a:latin typeface="Calibri"/>
                        </a:rPr>
                        <a:t>origin pop (starts full); consumes food</a:t>
                      </a:r>
                    </a:p>
                  </a:txBody>
                  <a:tcPr>
                    <a:solidFill>
                      <a:srgbClr val="F2F2F2"/>
                    </a:solidFill>
                  </a:tcPr>
                </a:tc>
              </a:tr>
              <a:tr h="548640">
                <a:tc>
                  <a:txBody>
                    <a:bodyPr/>
                    <a:lstStyle/>
                    <a:p>
                      <a:pPr algn="l"/>
                      <a:r>
                        <a:rPr sz="1150">
                          <a:solidFill>
                            <a:srgbClr val="222222"/>
                          </a:solidFill>
                          <a:latin typeface="Calibri"/>
                        </a:rPr>
                        <a:t>Motel</a:t>
                      </a:r>
                    </a:p>
                  </a:txBody>
                  <a:tcPr>
                    <a:solidFill>
                      <a:srgbClr val="FFFFFF"/>
                    </a:solidFill>
                  </a:tcPr>
                </a:tc>
                <a:tc>
                  <a:txBody>
                    <a:bodyPr/>
                    <a:lstStyle/>
                    <a:p>
                      <a:pPr algn="ctr"/>
                      <a:r>
                        <a:rPr sz="1150">
                          <a:solidFill>
                            <a:srgbClr val="222222"/>
                          </a:solidFill>
                          <a:latin typeface="Calibri"/>
                        </a:rPr>
                        <a:t>300</a:t>
                      </a:r>
                    </a:p>
                  </a:txBody>
                  <a:tcPr>
                    <a:solidFill>
                      <a:srgbClr val="FFFFFF"/>
                    </a:solidFill>
                  </a:tcPr>
                </a:tc>
                <a:tc>
                  <a:txBody>
                    <a:bodyPr/>
                    <a:lstStyle/>
                    <a:p>
                      <a:pPr algn="ctr"/>
                      <a:r>
                        <a:rPr sz="1150">
                          <a:solidFill>
                            <a:srgbClr val="222222"/>
                          </a:solidFill>
                          <a:latin typeface="Calibri"/>
                        </a:rPr>
                        <a:t>—</a:t>
                      </a:r>
                    </a:p>
                  </a:txBody>
                  <a:tcPr>
                    <a:solidFill>
                      <a:srgbClr val="FFFFFF"/>
                    </a:solidFill>
                  </a:tcPr>
                </a:tc>
                <a:tc>
                  <a:txBody>
                    <a:bodyPr/>
                    <a:lstStyle/>
                    <a:p>
                      <a:pPr algn="ctr"/>
                      <a:r>
                        <a:rPr sz="1150">
                          <a:solidFill>
                            <a:srgbClr val="222222"/>
                          </a:solidFill>
                          <a:latin typeface="Calibri"/>
                        </a:rPr>
                        <a:t>—</a:t>
                      </a:r>
                    </a:p>
                  </a:txBody>
                  <a:tcPr>
                    <a:solidFill>
                      <a:srgbClr val="FFFFFF"/>
                    </a:solidFill>
                  </a:tcPr>
                </a:tc>
                <a:tc>
                  <a:txBody>
                    <a:bodyPr/>
                    <a:lstStyle/>
                    <a:p>
                      <a:pPr algn="ctr"/>
                      <a:r>
                        <a:rPr sz="1150">
                          <a:solidFill>
                            <a:srgbClr val="222222"/>
                          </a:solidFill>
                          <a:latin typeface="Calibri"/>
                        </a:rPr>
                        <a:t>prebuilt</a:t>
                      </a:r>
                    </a:p>
                  </a:txBody>
                  <a:tcPr>
                    <a:solidFill>
                      <a:srgbClr val="FFFFFF"/>
                    </a:solidFill>
                  </a:tcPr>
                </a:tc>
                <a:tc>
                  <a:txBody>
                    <a:bodyPr/>
                    <a:lstStyle/>
                    <a:p>
                      <a:pPr algn="l"/>
                      <a:r>
                        <a:rPr sz="1150">
                          <a:solidFill>
                            <a:srgbClr val="222222"/>
                          </a:solidFill>
                          <a:latin typeface="Calibri"/>
                        </a:rPr>
                        <a:t>overflow lodging; $200 / person / day</a:t>
                      </a:r>
                    </a:p>
                  </a:txBody>
                  <a:tcPr>
                    <a:solidFill>
                      <a:srgbClr val="FFFFFF"/>
                    </a:solidFill>
                  </a:tcPr>
                </a:tc>
              </a:tr>
            </a:tbl>
          </a:graphicData>
        </a:graphic>
      </p:graphicFrame>
      <p:sp>
        <p:nvSpPr>
          <p:cNvPr id="7" name="Rounded Rectangle 6"/>
          <p:cNvSpPr/>
          <p:nvPr/>
        </p:nvSpPr>
        <p:spPr>
          <a:xfrm>
            <a:off x="8595360" y="1783080"/>
            <a:ext cx="3108960" cy="3291840"/>
          </a:xfrm>
          <a:prstGeom prst="roundRect">
            <a:avLst/>
          </a:prstGeom>
          <a:solidFill>
            <a:srgbClr val="F2F2F2"/>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1920240"/>
            <a:ext cx="2788920" cy="3108960"/>
          </a:xfrm>
          <a:prstGeom prst="rect">
            <a:avLst/>
          </a:prstGeom>
          <a:noFill/>
        </p:spPr>
        <p:txBody>
          <a:bodyPr wrap="square" anchor="t">
            <a:spAutoFit/>
          </a:bodyPr>
          <a:lstStyle/>
          <a:p>
            <a:pPr algn="l">
              <a:spcAft>
                <a:spcPts val="900"/>
              </a:spcAft>
            </a:pPr>
            <a:r>
              <a:rPr sz="1500" b="1">
                <a:solidFill>
                  <a:srgbClr val="1F3A5F"/>
                </a:solidFill>
                <a:latin typeface="Calibri"/>
              </a:rPr>
              <a:t>Global state</a:t>
            </a:r>
          </a:p>
          <a:p>
            <a:pPr algn="l">
              <a:spcAft>
                <a:spcPts val="900"/>
              </a:spcAft>
            </a:pPr>
            <a:r>
              <a:rPr sz="1250" b="1">
                <a:solidFill>
                  <a:srgbClr val="222222"/>
                </a:solidFill>
                <a:latin typeface="Calibri"/>
              </a:rPr>
              <a:t>Start budget</a:t>
            </a:r>
            <a:r>
              <a:rPr sz="1250" b="0">
                <a:solidFill>
                  <a:srgbClr val="222222"/>
                </a:solidFill>
                <a:latin typeface="Calibri"/>
              </a:rPr>
              <a:t>:  $10,000</a:t>
            </a:r>
          </a:p>
          <a:p>
            <a:pPr algn="l">
              <a:spcAft>
                <a:spcPts val="900"/>
              </a:spcAft>
            </a:pPr>
            <a:r>
              <a:rPr sz="1250" b="1">
                <a:solidFill>
                  <a:srgbClr val="222222"/>
                </a:solidFill>
                <a:latin typeface="Calibri"/>
              </a:rPr>
              <a:t>Start satisfaction</a:t>
            </a:r>
            <a:r>
              <a:rPr sz="1250" b="0">
                <a:solidFill>
                  <a:srgbClr val="222222"/>
                </a:solidFill>
                <a:latin typeface="Calibri"/>
              </a:rPr>
              <a:t>:  50</a:t>
            </a:r>
          </a:p>
          <a:p>
            <a:pPr algn="l">
              <a:spcAft>
                <a:spcPts val="900"/>
              </a:spcAft>
            </a:pPr>
            <a:r>
              <a:rPr sz="1250" b="1">
                <a:solidFill>
                  <a:srgbClr val="222222"/>
                </a:solidFill>
                <a:latin typeface="Calibri"/>
              </a:rPr>
              <a:t>Horizon</a:t>
            </a:r>
            <a:r>
              <a:rPr sz="1250" b="0">
                <a:solidFill>
                  <a:srgbClr val="222222"/>
                </a:solidFill>
                <a:latin typeface="Calibri"/>
              </a:rPr>
              <a:t>:  32 rounds</a:t>
            </a:r>
          </a:p>
          <a:p>
            <a:pPr algn="l">
              <a:spcAft>
                <a:spcPts val="900"/>
              </a:spcAft>
            </a:pPr>
            <a:r>
              <a:rPr sz="1250" b="1">
                <a:solidFill>
                  <a:srgbClr val="222222"/>
                </a:solidFill>
                <a:latin typeface="Calibri"/>
              </a:rPr>
              <a:t>Day length</a:t>
            </a:r>
            <a:r>
              <a:rPr sz="1250" b="0">
                <a:solidFill>
                  <a:srgbClr val="222222"/>
                </a:solidFill>
                <a:latin typeface="Calibri"/>
              </a:rPr>
              <a:t>:  4 rounds (κ)</a:t>
            </a:r>
          </a:p>
          <a:p>
            <a:pPr algn="l">
              <a:spcAft>
                <a:spcPts val="900"/>
              </a:spcAft>
            </a:pPr>
            <a:r>
              <a:rPr sz="1250" b="1">
                <a:solidFill>
                  <a:srgbClr val="222222"/>
                </a:solidFill>
                <a:latin typeface="Calibri"/>
              </a:rPr>
              <a:t>Vehicles</a:t>
            </a:r>
            <a:r>
              <a:rPr sz="1250" b="0">
                <a:solidFill>
                  <a:srgbClr val="222222"/>
                </a:solidFill>
                <a:latin typeface="Calibri"/>
              </a:rPr>
              <a:t>:  3 (shared fleet)</a:t>
            </a:r>
          </a:p>
          <a:p>
            <a:pPr algn="l">
              <a:spcAft>
                <a:spcPts val="900"/>
              </a:spcAft>
            </a:pPr>
            <a:r>
              <a:rPr sz="1250" b="1">
                <a:solidFill>
                  <a:srgbClr val="222222"/>
                </a:solidFill>
                <a:latin typeface="Calibri"/>
              </a:rPr>
              <a:t>Food consumed</a:t>
            </a:r>
            <a:r>
              <a:rPr sz="1250" b="0">
                <a:solidFill>
                  <a:srgbClr val="222222"/>
                </a:solidFill>
                <a:latin typeface="Calibri"/>
              </a:rPr>
              <a:t>:  1 pack / resident every 4 rounds</a:t>
            </a:r>
          </a:p>
          <a:p>
            <a:pPr algn="l">
              <a:spcAft>
                <a:spcPts val="900"/>
              </a:spcAft>
            </a:pPr>
            <a:r>
              <a:rPr sz="1250" b="1">
                <a:solidFill>
                  <a:srgbClr val="222222"/>
                </a:solidFill>
                <a:latin typeface="Calibri"/>
              </a:rPr>
              <a:t>Reward</a:t>
            </a:r>
            <a:r>
              <a:rPr sz="1250" b="0">
                <a:solidFill>
                  <a:srgbClr val="222222"/>
                </a:solidFill>
                <a:latin typeface="Calibri"/>
              </a:rPr>
              <a:t>:  satisfaction − cost</a:t>
            </a:r>
          </a:p>
        </p:txBody>
      </p:sp>
      <p:sp>
        <p:nvSpPr>
          <p:cNvPr id="9" name="TextBox 8"/>
          <p:cNvSpPr txBox="1"/>
          <p:nvPr/>
        </p:nvSpPr>
        <p:spPr>
          <a:xfrm>
            <a:off x="502920" y="5257800"/>
            <a:ext cx="11155680" cy="1097280"/>
          </a:xfrm>
          <a:prstGeom prst="rect">
            <a:avLst/>
          </a:prstGeom>
          <a:noFill/>
        </p:spPr>
        <p:txBody>
          <a:bodyPr wrap="square" anchor="t">
            <a:spAutoFit/>
          </a:bodyPr>
          <a:lstStyle/>
          <a:p>
            <a:pPr algn="l"/>
            <a:r>
              <a:rPr sz="1400" b="0">
                <a:solidFill>
                  <a:srgbClr val="222222"/>
                </a:solidFill>
                <a:latin typeface="Calibri"/>
              </a:rPr>
              <a:t>Food is the only </a:t>
            </a:r>
            <a:r>
              <a:rPr sz="1400" b="1">
                <a:solidFill>
                  <a:srgbClr val="548235"/>
                </a:solidFill>
                <a:latin typeface="Calibri"/>
              </a:rPr>
              <a:t>recurring consumable</a:t>
            </a:r>
            <a:r>
              <a:rPr sz="1400" b="0">
                <a:solidFill>
                  <a:srgbClr val="222222"/>
                </a:solidFill>
                <a:latin typeface="Calibri"/>
              </a:rPr>
              <a:t>.  Lodging and casework are one-shot; food must be re-supplied for the life of every resident — and it cannot be stockpiled across days.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6F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Transport &amp; delivery</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55680" cy="457200"/>
          </a:xfrm>
          <a:prstGeom prst="rect">
            <a:avLst/>
          </a:prstGeom>
          <a:noFill/>
        </p:spPr>
        <p:txBody>
          <a:bodyPr wrap="square" anchor="t">
            <a:spAutoFit/>
          </a:bodyPr>
          <a:lstStyle/>
          <a:p>
            <a:pPr algn="l"/>
            <a:r>
              <a:rPr sz="1600" b="1">
                <a:solidFill>
                  <a:srgbClr val="595959"/>
                </a:solidFill>
                <a:latin typeface="Calibri"/>
              </a:rPr>
              <a:t>How every resource move is resolved — and why the fleet is the bottleneck</a:t>
            </a:r>
          </a:p>
        </p:txBody>
      </p:sp>
      <p:sp>
        <p:nvSpPr>
          <p:cNvPr id="6" name="Rounded Rectangle 5"/>
          <p:cNvSpPr/>
          <p:nvPr/>
        </p:nvSpPr>
        <p:spPr>
          <a:xfrm>
            <a:off x="502920" y="1828800"/>
            <a:ext cx="5394960" cy="2331720"/>
          </a:xfrm>
          <a:prstGeom prst="roundRect">
            <a:avLst/>
          </a:prstGeom>
          <a:solidFill>
            <a:srgbClr val="ECE2F5"/>
          </a:solidFill>
          <a:ln w="19050">
            <a:solidFill>
              <a:srgbClr val="6F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65960"/>
            <a:ext cx="4937760" cy="2103120"/>
          </a:xfrm>
          <a:prstGeom prst="rect">
            <a:avLst/>
          </a:prstGeom>
          <a:noFill/>
        </p:spPr>
        <p:txBody>
          <a:bodyPr wrap="square" anchor="t">
            <a:spAutoFit/>
          </a:bodyPr>
          <a:lstStyle/>
          <a:p>
            <a:pPr algn="l">
              <a:spcAft>
                <a:spcPts val="700"/>
              </a:spcAft>
            </a:pPr>
            <a:r>
              <a:rPr sz="1600" b="1">
                <a:solidFill>
                  <a:srgbClr val="6F30A0"/>
                </a:solidFill>
                <a:latin typeface="Calibri"/>
              </a:rPr>
              <a:t>Immediate  (airlift / helicopter)</a:t>
            </a:r>
          </a:p>
          <a:p>
            <a:pPr algn="l">
              <a:spcAft>
                <a:spcPts val="700"/>
              </a:spcAft>
            </a:pPr>
            <a:r>
              <a:rPr sz="1300" b="1">
                <a:solidFill>
                  <a:srgbClr val="222222"/>
                </a:solidFill>
                <a:latin typeface="Calibri"/>
              </a:rPr>
              <a:t>No vehicle · no route · no travel time</a:t>
            </a:r>
          </a:p>
          <a:p>
            <a:pPr algn="l">
              <a:spcAft>
                <a:spcPts val="700"/>
              </a:spcAft>
            </a:pPr>
            <a:r>
              <a:rPr sz="1250" b="0">
                <a:solidFill>
                  <a:srgbClr val="222222"/>
                </a:solidFill>
                <a:latin typeface="Calibri"/>
              </a:rPr>
              <a:t>• Always feasible — never gated</a:t>
            </a:r>
          </a:p>
          <a:p>
            <a:pPr algn="l">
              <a:spcAft>
                <a:spcPts val="700"/>
              </a:spcAft>
            </a:pPr>
            <a:r>
              <a:rPr sz="1250" b="0">
                <a:solidFill>
                  <a:srgbClr val="222222"/>
                </a:solidFill>
                <a:latin typeface="Calibri"/>
              </a:rPr>
              <a:t>• Resolves instantly, up to destination capacity</a:t>
            </a:r>
          </a:p>
          <a:p>
            <a:pPr algn="l">
              <a:spcAft>
                <a:spcPts val="700"/>
              </a:spcAft>
            </a:pPr>
            <a:r>
              <a:rPr sz="1250" b="0">
                <a:solidFill>
                  <a:srgbClr val="222222"/>
                </a:solidFill>
                <a:latin typeface="Calibri"/>
              </a:rPr>
              <a:t>• Costs money (≈ $1–3k per delivery)</a:t>
            </a:r>
          </a:p>
        </p:txBody>
      </p:sp>
      <p:sp>
        <p:nvSpPr>
          <p:cNvPr id="8" name="Rounded Rectangle 7"/>
          <p:cNvSpPr/>
          <p:nvPr/>
        </p:nvSpPr>
        <p:spPr>
          <a:xfrm>
            <a:off x="6263640" y="1828800"/>
            <a:ext cx="5394960" cy="2331720"/>
          </a:xfrm>
          <a:prstGeom prst="roundRect">
            <a:avLst/>
          </a:prstGeom>
          <a:solidFill>
            <a:srgbClr val="F2F2F2"/>
          </a:solid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65960"/>
            <a:ext cx="4937760" cy="2103120"/>
          </a:xfrm>
          <a:prstGeom prst="rect">
            <a:avLst/>
          </a:prstGeom>
          <a:noFill/>
        </p:spPr>
        <p:txBody>
          <a:bodyPr wrap="square" anchor="t">
            <a:spAutoFit/>
          </a:bodyPr>
          <a:lstStyle/>
          <a:p>
            <a:pPr algn="l">
              <a:spcAft>
                <a:spcPts val="700"/>
              </a:spcAft>
            </a:pPr>
            <a:r>
              <a:rPr sz="1600" b="1">
                <a:solidFill>
                  <a:srgbClr val="595959"/>
                </a:solidFill>
                <a:latin typeface="Calibri"/>
              </a:rPr>
              <a:t>Vehicle-queued  (deferred)</a:t>
            </a:r>
          </a:p>
          <a:p>
            <a:pPr algn="l">
              <a:spcAft>
                <a:spcPts val="700"/>
              </a:spcAft>
            </a:pPr>
            <a:r>
              <a:rPr sz="1300" b="1">
                <a:solidFill>
                  <a:srgbClr val="222222"/>
                </a:solidFill>
                <a:latin typeface="Calibri"/>
              </a:rPr>
              <a:t>Free to issue · uses the shared fleet</a:t>
            </a:r>
          </a:p>
          <a:p>
            <a:pPr algn="l">
              <a:spcAft>
                <a:spcPts val="700"/>
              </a:spcAft>
            </a:pPr>
            <a:r>
              <a:rPr sz="1250" b="0">
                <a:solidFill>
                  <a:srgbClr val="222222"/>
                </a:solidFill>
                <a:latin typeface="Calibri"/>
              </a:rPr>
              <a:t>• Needs ALL of: source stock + free vehicle + flood-free route</a:t>
            </a:r>
          </a:p>
          <a:p>
            <a:pPr algn="l">
              <a:spcAft>
                <a:spcPts val="700"/>
              </a:spcAft>
            </a:pPr>
            <a:r>
              <a:rPr sz="1250" b="0">
                <a:solidFill>
                  <a:srgbClr val="222222"/>
                </a:solidFill>
                <a:latin typeface="Calibri"/>
              </a:rPr>
              <a:t>• A DeliveryTask loads, travels a flood-aware path, unloads</a:t>
            </a:r>
          </a:p>
          <a:p>
            <a:pPr algn="l">
              <a:spcAft>
                <a:spcPts val="700"/>
              </a:spcAft>
            </a:pPr>
            <a:r>
              <a:rPr sz="1250" b="0">
                <a:solidFill>
                  <a:srgbClr val="C55A11"/>
                </a:solidFill>
                <a:latin typeface="Calibri"/>
              </a:rPr>
              <a:t>• Fails silently if any precondition is missing</a:t>
            </a:r>
          </a:p>
        </p:txBody>
      </p:sp>
      <p:sp>
        <p:nvSpPr>
          <p:cNvPr id="10" name="Rounded Rectangle 9"/>
          <p:cNvSpPr/>
          <p:nvPr/>
        </p:nvSpPr>
        <p:spPr>
          <a:xfrm>
            <a:off x="502920" y="4343400"/>
            <a:ext cx="5394960" cy="96012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Latency = 1 round per site</a:t>
            </a:r>
          </a:p>
          <a:p>
            <a:pPr algn="ctr"/>
            <a:r>
              <a:rPr sz="1150" b="0">
                <a:solidFill>
                  <a:srgbClr val="CFDDEE"/>
                </a:solidFill>
                <a:latin typeface="Calibri"/>
              </a:rPr>
              <a:t>Travel fits inside one round's ~10s game-time budget, so a queued delivery completes the round it is issued (distance not yet modeled).</a:t>
            </a:r>
          </a:p>
        </p:txBody>
      </p:sp>
      <p:sp>
        <p:nvSpPr>
          <p:cNvPr id="11" name="Rounded Rectangle 10"/>
          <p:cNvSpPr/>
          <p:nvPr/>
        </p:nvSpPr>
        <p:spPr>
          <a:xfrm>
            <a:off x="6263640" y="4343400"/>
            <a:ext cx="5394960" cy="960120"/>
          </a:xfrm>
          <a:prstGeom prst="roundRect">
            <a:avLst/>
          </a:prstGeom>
          <a:solidFill>
            <a:srgbClr val="7A2E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One shared pool of 3 vehicles</a:t>
            </a:r>
          </a:p>
          <a:p>
            <a:pPr algn="ctr"/>
            <a:r>
              <a:rPr sz="1150" b="0">
                <a:solidFill>
                  <a:srgbClr val="F0D9D9"/>
                </a:solidFill>
                <a:latin typeface="Calibri"/>
              </a:rPr>
              <a:t>People-relocation AND deferred food draw from the SAME 3 vehicles. Saturate it moving people → no vehicle left to deliver food.</a:t>
            </a:r>
          </a:p>
        </p:txBody>
      </p:sp>
      <p:sp>
        <p:nvSpPr>
          <p:cNvPr id="12" name="TextBox 11"/>
          <p:cNvSpPr txBox="1"/>
          <p:nvPr/>
        </p:nvSpPr>
        <p:spPr>
          <a:xfrm>
            <a:off x="502920" y="5440680"/>
            <a:ext cx="11155680" cy="914400"/>
          </a:xfrm>
          <a:prstGeom prst="rect">
            <a:avLst/>
          </a:prstGeom>
          <a:noFill/>
        </p:spPr>
        <p:txBody>
          <a:bodyPr wrap="square" anchor="t">
            <a:spAutoFit/>
          </a:bodyPr>
          <a:lstStyle/>
          <a:p>
            <a:pPr algn="l"/>
            <a:r>
              <a:rPr sz="1400" b="1">
                <a:solidFill>
                  <a:srgbClr val="6F30A0"/>
                </a:solidFill>
                <a:latin typeface="Calibri"/>
              </a:rPr>
              <a:t>Calculation: </a:t>
            </a:r>
            <a:r>
              <a:rPr sz="1350" b="0">
                <a:solidFill>
                  <a:srgbClr val="222222"/>
                </a:solidFill>
                <a:latin typeface="Calibri"/>
              </a:rPr>
              <a:t>on selection, the game checks feasibility, reserves destination capacity (so concurrent vehicles don't over-commit), assigns a vehicle, and credits delivered quantity to the task at unload. Immediate transfers skip vehicle, route, and reservation entirely.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Food: production, consumption &amp; waste</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34440"/>
            <a:ext cx="11155680" cy="457200"/>
          </a:xfrm>
          <a:prstGeom prst="rect">
            <a:avLst/>
          </a:prstGeom>
          <a:noFill/>
        </p:spPr>
        <p:txBody>
          <a:bodyPr wrap="square" anchor="t">
            <a:spAutoFit/>
          </a:bodyPr>
          <a:lstStyle/>
          <a:p>
            <a:pPr algn="l"/>
            <a:r>
              <a:rPr sz="1600" b="1">
                <a:solidFill>
                  <a:srgbClr val="595959"/>
                </a:solidFill>
                <a:latin typeface="Calibri"/>
              </a:rPr>
              <a:t>A kitchen makes food; residents burn it on a 4-round clock; leftovers are wiped daily</a:t>
            </a:r>
          </a:p>
        </p:txBody>
      </p:sp>
      <p:sp>
        <p:nvSpPr>
          <p:cNvPr id="6" name="Rounded Rectangle 5"/>
          <p:cNvSpPr/>
          <p:nvPr/>
        </p:nvSpPr>
        <p:spPr>
          <a:xfrm>
            <a:off x="502920" y="1828800"/>
            <a:ext cx="3566160" cy="2286000"/>
          </a:xfrm>
          <a:prstGeom prst="roundRect">
            <a:avLst/>
          </a:prstGeom>
          <a:solidFill>
            <a:srgbClr val="E2EFDA"/>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65960"/>
            <a:ext cx="3200400" cy="2103120"/>
          </a:xfrm>
          <a:prstGeom prst="rect">
            <a:avLst/>
          </a:prstGeom>
          <a:noFill/>
        </p:spPr>
        <p:txBody>
          <a:bodyPr wrap="square" anchor="t">
            <a:spAutoFit/>
          </a:bodyPr>
          <a:lstStyle/>
          <a:p>
            <a:pPr algn="l">
              <a:spcAft>
                <a:spcPts val="600"/>
              </a:spcAft>
            </a:pPr>
            <a:r>
              <a:rPr sz="1600" b="1">
                <a:solidFill>
                  <a:srgbClr val="548235"/>
                </a:solidFill>
                <a:latin typeface="Calibri"/>
              </a:rPr>
              <a:t>Production</a:t>
            </a:r>
          </a:p>
          <a:p>
            <a:pPr algn="l">
              <a:spcAft>
                <a:spcPts val="600"/>
              </a:spcAft>
            </a:pPr>
            <a:r>
              <a:rPr sz="1250" b="1">
                <a:solidFill>
                  <a:srgbClr val="222222"/>
                </a:solidFill>
                <a:latin typeface="Calibri"/>
              </a:rPr>
              <a:t>Kitchen (operational):</a:t>
            </a:r>
          </a:p>
          <a:p>
            <a:pPr algn="l">
              <a:spcAft>
                <a:spcPts val="600"/>
              </a:spcAft>
            </a:pPr>
            <a:r>
              <a:rPr sz="1200" b="0">
                <a:solidFill>
                  <a:srgbClr val="222222"/>
                </a:solidFill>
                <a:latin typeface="Calibri"/>
              </a:rPr>
              <a:t>food(R+1) = min(20, food(R) + 10)</a:t>
            </a:r>
          </a:p>
          <a:p>
            <a:pPr algn="l">
              <a:spcAft>
                <a:spcPts val="600"/>
              </a:spcAft>
            </a:pPr>
            <a:r>
              <a:rPr sz="1250" b="0">
                <a:solidFill>
                  <a:srgbClr val="222222"/>
                </a:solidFill>
                <a:latin typeface="Calibri"/>
              </a:rPr>
              <a:t>• +10 packs / round</a:t>
            </a:r>
          </a:p>
          <a:p>
            <a:pPr algn="l">
              <a:spcAft>
                <a:spcPts val="600"/>
              </a:spcAft>
            </a:pPr>
            <a:r>
              <a:rPr sz="1250" b="0">
                <a:solidFill>
                  <a:srgbClr val="222222"/>
                </a:solidFill>
                <a:latin typeface="Calibri"/>
              </a:rPr>
              <a:t>• capacity 20 · 4 workers · $1000</a:t>
            </a:r>
          </a:p>
          <a:p>
            <a:pPr algn="l">
              <a:spcAft>
                <a:spcPts val="600"/>
              </a:spcAft>
            </a:pPr>
            <a:r>
              <a:rPr sz="1200" b="0">
                <a:solidFill>
                  <a:srgbClr val="C55A11"/>
                </a:solidFill>
                <a:latin typeface="Calibri"/>
              </a:rPr>
              <a:t>• no kitchen ⇒ no packs to defer</a:t>
            </a:r>
          </a:p>
        </p:txBody>
      </p:sp>
      <p:sp>
        <p:nvSpPr>
          <p:cNvPr id="8" name="Rounded Rectangle 7"/>
          <p:cNvSpPr/>
          <p:nvPr/>
        </p:nvSpPr>
        <p:spPr>
          <a:xfrm>
            <a:off x="4297680" y="1828800"/>
            <a:ext cx="3566160" cy="2286000"/>
          </a:xfrm>
          <a:prstGeom prst="roundRect">
            <a:avLst/>
          </a:prstGeom>
          <a:solidFill>
            <a:srgbClr val="E2EFDA"/>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965960"/>
            <a:ext cx="3200400" cy="2103120"/>
          </a:xfrm>
          <a:prstGeom prst="rect">
            <a:avLst/>
          </a:prstGeom>
          <a:noFill/>
        </p:spPr>
        <p:txBody>
          <a:bodyPr wrap="square" anchor="t">
            <a:spAutoFit/>
          </a:bodyPr>
          <a:lstStyle/>
          <a:p>
            <a:pPr algn="l">
              <a:spcAft>
                <a:spcPts val="600"/>
              </a:spcAft>
            </a:pPr>
            <a:r>
              <a:rPr sz="1600" b="1">
                <a:solidFill>
                  <a:srgbClr val="548235"/>
                </a:solidFill>
                <a:latin typeface="Calibri"/>
              </a:rPr>
              <a:t>Consumption</a:t>
            </a:r>
          </a:p>
          <a:p>
            <a:pPr algn="l">
              <a:spcAft>
                <a:spcPts val="600"/>
              </a:spcAft>
            </a:pPr>
            <a:r>
              <a:rPr sz="1250" b="1">
                <a:solidFill>
                  <a:srgbClr val="222222"/>
                </a:solidFill>
                <a:latin typeface="Calibri"/>
              </a:rPr>
              <a:t>Shelter &amp; Community only:</a:t>
            </a:r>
          </a:p>
          <a:p>
            <a:pPr algn="l">
              <a:spcAft>
                <a:spcPts val="600"/>
              </a:spcAft>
            </a:pPr>
            <a:r>
              <a:rPr sz="1200" b="0">
                <a:solidFill>
                  <a:srgbClr val="222222"/>
                </a:solidFill>
                <a:latin typeface="Calibri"/>
              </a:rPr>
              <a:t>every κ = 4 rounds:</a:t>
            </a:r>
          </a:p>
          <a:p>
            <a:pPr algn="l">
              <a:spcAft>
                <a:spcPts val="600"/>
              </a:spcAft>
            </a:pPr>
            <a:r>
              <a:rPr sz="1200" b="0">
                <a:solidFill>
                  <a:srgbClr val="222222"/>
                </a:solidFill>
                <a:latin typeface="Calibri"/>
              </a:rPr>
              <a:t>food_b −= (residents in b)</a:t>
            </a:r>
          </a:p>
          <a:p>
            <a:pPr algn="l">
              <a:spcAft>
                <a:spcPts val="600"/>
              </a:spcAft>
            </a:pPr>
            <a:r>
              <a:rPr sz="1250" b="0">
                <a:solidFill>
                  <a:srgbClr val="222222"/>
                </a:solidFill>
                <a:latin typeface="Calibri"/>
              </a:rPr>
              <a:t>• 1 pack / resident / 4 rounds</a:t>
            </a:r>
          </a:p>
          <a:p>
            <a:pPr algn="l">
              <a:spcAft>
                <a:spcPts val="600"/>
              </a:spcAft>
            </a:pPr>
            <a:r>
              <a:rPr sz="1200" b="0">
                <a:solidFill>
                  <a:srgbClr val="222222"/>
                </a:solidFill>
                <a:latin typeface="Calibri"/>
              </a:rPr>
              <a:t>• Motel, CaseworkSite, workers: none</a:t>
            </a:r>
          </a:p>
        </p:txBody>
      </p:sp>
      <p:sp>
        <p:nvSpPr>
          <p:cNvPr id="10" name="Rounded Rectangle 9"/>
          <p:cNvSpPr/>
          <p:nvPr/>
        </p:nvSpPr>
        <p:spPr>
          <a:xfrm>
            <a:off x="8092440" y="1828800"/>
            <a:ext cx="3611880" cy="2286000"/>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965960"/>
            <a:ext cx="3246120" cy="2103120"/>
          </a:xfrm>
          <a:prstGeom prst="rect">
            <a:avLst/>
          </a:prstGeom>
          <a:noFill/>
        </p:spPr>
        <p:txBody>
          <a:bodyPr wrap="square" anchor="t">
            <a:spAutoFit/>
          </a:bodyPr>
          <a:lstStyle/>
          <a:p>
            <a:pPr algn="l">
              <a:spcAft>
                <a:spcPts val="700"/>
              </a:spcAft>
            </a:pPr>
            <a:r>
              <a:rPr sz="1600" b="1">
                <a:solidFill>
                  <a:srgbClr val="C55A11"/>
                </a:solidFill>
                <a:latin typeface="Calibri"/>
              </a:rPr>
              <a:t>Waste (day boundary)</a:t>
            </a:r>
          </a:p>
          <a:p>
            <a:pPr algn="l">
              <a:spcAft>
                <a:spcPts val="700"/>
              </a:spcAft>
            </a:pPr>
            <a:r>
              <a:rPr sz="1250" b="0">
                <a:solidFill>
                  <a:srgbClr val="222222"/>
                </a:solidFill>
                <a:latin typeface="Calibri"/>
              </a:rPr>
              <a:t>Unconsumed food is cleared every day (4 rounds).</a:t>
            </a:r>
          </a:p>
          <a:p>
            <a:pPr algn="l">
              <a:spcAft>
                <a:spcPts val="700"/>
              </a:spcAft>
            </a:pPr>
            <a:r>
              <a:rPr sz="1250" b="1">
                <a:solidFill>
                  <a:srgbClr val="222222"/>
                </a:solidFill>
                <a:latin typeface="Calibri"/>
              </a:rPr>
              <a:t>• cannot stockpile across days</a:t>
            </a:r>
          </a:p>
          <a:p>
            <a:pPr algn="l">
              <a:spcAft>
                <a:spcPts val="700"/>
              </a:spcAft>
            </a:pPr>
            <a:r>
              <a:rPr sz="1250" b="0">
                <a:solidFill>
                  <a:srgbClr val="222222"/>
                </a:solidFill>
                <a:latin typeface="Calibri"/>
              </a:rPr>
              <a:t>• over-producing just burns budget</a:t>
            </a:r>
          </a:p>
          <a:p>
            <a:pPr algn="l">
              <a:spcAft>
                <a:spcPts val="700"/>
              </a:spcAft>
            </a:pPr>
            <a:r>
              <a:rPr sz="1250" b="0">
                <a:solidFill>
                  <a:srgbClr val="222222"/>
                </a:solidFill>
                <a:latin typeface="Calibri"/>
              </a:rPr>
              <a:t>• supply must be paced to demand</a:t>
            </a:r>
          </a:p>
        </p:txBody>
      </p:sp>
      <p:sp>
        <p:nvSpPr>
          <p:cNvPr id="12" name="Rounded Rectangle 11"/>
          <p:cNvSpPr/>
          <p:nvPr/>
        </p:nvSpPr>
        <p:spPr>
          <a:xfrm>
            <a:off x="502920" y="4343400"/>
            <a:ext cx="11201400" cy="96012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Effective cost per resident</a:t>
            </a:r>
          </a:p>
          <a:p>
            <a:pPr algn="ctr"/>
            <a:r>
              <a:rPr sz="1200" b="0">
                <a:solidFill>
                  <a:srgbClr val="CFDDEE"/>
                </a:solidFill>
                <a:latin typeface="Calibri"/>
              </a:rPr>
              <a:t>A staffed kitchen ($1000 + 4 workers) makes 40 packs over a 4-round day = feeds up to 40 residents/cycle, but only if a vehicle delivers it. An airlift guarantees delivery at ≈$1–3k per wave. Either way, each housed resident incurs ~1 pack of recurring food cost every 4 rounds, for as long as they stay.</a:t>
            </a:r>
          </a:p>
        </p:txBody>
      </p:sp>
      <p:sp>
        <p:nvSpPr>
          <p:cNvPr id="13" name="TextBox 12"/>
          <p:cNvSpPr txBox="1"/>
          <p:nvPr/>
        </p:nvSpPr>
        <p:spPr>
          <a:xfrm>
            <a:off x="502920" y="5440680"/>
            <a:ext cx="11155680" cy="914400"/>
          </a:xfrm>
          <a:prstGeom prst="rect">
            <a:avLst/>
          </a:prstGeom>
          <a:noFill/>
        </p:spPr>
        <p:txBody>
          <a:bodyPr wrap="square" anchor="t">
            <a:spAutoFit/>
          </a:bodyPr>
          <a:lstStyle/>
          <a:p>
            <a:pPr algn="l"/>
            <a:r>
              <a:rPr sz="1400" b="1">
                <a:solidFill>
                  <a:srgbClr val="548235"/>
                </a:solidFill>
                <a:latin typeface="Calibri"/>
              </a:rPr>
              <a:t>Why food is the hard axis: </a:t>
            </a:r>
            <a:r>
              <a:rPr sz="1350" b="0">
                <a:solidFill>
                  <a:srgbClr val="222222"/>
                </a:solidFill>
                <a:latin typeface="Calibri"/>
              </a:rPr>
              <a:t>it is the ONLY cost that recurs every cycle, it is gated on a built+staffed kitchen OR a paid airlift, it competes with people-moves for the 3 vehicles, and any surplus is wasted daily — so it must be continuously matched to the current housed population.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Population mass-flow: in → sustained → out</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70432"/>
            <a:ext cx="11338560" cy="411480"/>
          </a:xfrm>
          <a:prstGeom prst="rect">
            <a:avLst/>
          </a:prstGeom>
          <a:noFill/>
        </p:spPr>
        <p:txBody>
          <a:bodyPr wrap="square" anchor="t">
            <a:spAutoFit/>
          </a:bodyPr>
          <a:lstStyle/>
          <a:p>
            <a:pPr algn="l"/>
            <a:r>
              <a:rPr sz="1500" b="1">
                <a:solidFill>
                  <a:srgbClr val="595959"/>
                </a:solidFill>
                <a:latin typeface="Calibri"/>
              </a:rPr>
              <a:t>People enter at the Community, are housed &amp; fed, then exit through casework</a:t>
            </a:r>
          </a:p>
        </p:txBody>
      </p:sp>
      <p:sp>
        <p:nvSpPr>
          <p:cNvPr id="6" name="Rounded Rectangle 5"/>
          <p:cNvSpPr/>
          <p:nvPr/>
        </p:nvSpPr>
        <p:spPr>
          <a:xfrm>
            <a:off x="411480" y="1874519"/>
            <a:ext cx="2743200" cy="13716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COMMUNITY</a:t>
            </a:r>
          </a:p>
          <a:p>
            <a:pPr algn="ctr"/>
            <a:r>
              <a:rPr sz="1150" b="0">
                <a:solidFill>
                  <a:srgbClr val="FFFFFF"/>
                </a:solidFill>
                <a:latin typeface="Calibri"/>
              </a:rPr>
              <a:t>prebuilt · starts FULL</a:t>
            </a:r>
          </a:p>
          <a:p>
            <a:pPr algn="ctr"/>
            <a:r>
              <a:rPr sz="1100" b="0">
                <a:solidFill>
                  <a:srgbClr val="DCE9F7"/>
                </a:solidFill>
                <a:latin typeface="Calibri"/>
              </a:rPr>
              <a:t>pop cap 40 · consumes food</a:t>
            </a:r>
          </a:p>
          <a:p>
            <a:pPr algn="ctr"/>
            <a:r>
              <a:rPr sz="1050" b="0">
                <a:solidFill>
                  <a:srgbClr val="DCE9F7"/>
                </a:solidFill>
                <a:latin typeface="Calibri"/>
              </a:rPr>
              <a:t>origin of all population</a:t>
            </a:r>
          </a:p>
        </p:txBody>
      </p:sp>
      <p:sp>
        <p:nvSpPr>
          <p:cNvPr id="7" name="Rounded Rectangle 6"/>
          <p:cNvSpPr/>
          <p:nvPr/>
        </p:nvSpPr>
        <p:spPr>
          <a:xfrm>
            <a:off x="4617720" y="1874519"/>
            <a:ext cx="2743200" cy="13716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LODGING</a:t>
            </a:r>
          </a:p>
          <a:p>
            <a:pPr algn="ctr"/>
            <a:r>
              <a:rPr sz="1100" b="0">
                <a:solidFill>
                  <a:srgbClr val="DCE9F7"/>
                </a:solidFill>
                <a:latin typeface="Calibri"/>
              </a:rPr>
              <a:t>Shelter (cap 10, consumes food)</a:t>
            </a:r>
          </a:p>
          <a:p>
            <a:pPr algn="ctr"/>
            <a:r>
              <a:rPr sz="1100" b="0">
                <a:solidFill>
                  <a:srgbClr val="DCE9F7"/>
                </a:solidFill>
                <a:latin typeface="Calibri"/>
              </a:rPr>
              <a:t>Motel (cap 300, $200/p/day)</a:t>
            </a:r>
          </a:p>
          <a:p>
            <a:pPr algn="ctr"/>
            <a:r>
              <a:rPr sz="1050" b="0">
                <a:solidFill>
                  <a:srgbClr val="DCE9F7"/>
                </a:solidFill>
                <a:latin typeface="Calibri"/>
              </a:rPr>
              <a:t>people housed here</a:t>
            </a:r>
          </a:p>
        </p:txBody>
      </p:sp>
      <p:sp>
        <p:nvSpPr>
          <p:cNvPr id="8" name="Rounded Rectangle 7"/>
          <p:cNvSpPr/>
          <p:nvPr/>
        </p:nvSpPr>
        <p:spPr>
          <a:xfrm>
            <a:off x="8823960" y="1874519"/>
            <a:ext cx="2926080" cy="1371600"/>
          </a:xfrm>
          <a:prstGeom prst="round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400" b="1">
                <a:solidFill>
                  <a:srgbClr val="FFFFFF"/>
                </a:solidFill>
                <a:latin typeface="Calibri"/>
              </a:rPr>
              <a:t>CASEWORK SITE → HOME</a:t>
            </a:r>
          </a:p>
          <a:p>
            <a:pPr algn="ctr"/>
            <a:r>
              <a:rPr sz="1150" b="0">
                <a:solidFill>
                  <a:srgbClr val="FBE5D6"/>
                </a:solidFill>
                <a:latin typeface="Calibri"/>
              </a:rPr>
              <a:t>cap 40 · processes home</a:t>
            </a:r>
          </a:p>
          <a:p>
            <a:pPr algn="ctr"/>
            <a:r>
              <a:rPr sz="1100" b="0">
                <a:solidFill>
                  <a:srgbClr val="FBE5D6"/>
                </a:solidFill>
                <a:latin typeface="Calibri"/>
              </a:rPr>
              <a:t>removes clients from lodging</a:t>
            </a:r>
          </a:p>
          <a:p>
            <a:pPr algn="ctr"/>
            <a:r>
              <a:rPr sz="1100" b="1">
                <a:solidFill>
                  <a:srgbClr val="FBE5D6"/>
                </a:solidFill>
                <a:latin typeface="Calibri"/>
              </a:rPr>
              <a:t>EXIT from the system</a:t>
            </a:r>
          </a:p>
        </p:txBody>
      </p:sp>
      <p:sp>
        <p:nvSpPr>
          <p:cNvPr id="9" name="Right Arrow 8"/>
          <p:cNvSpPr/>
          <p:nvPr/>
        </p:nvSpPr>
        <p:spPr>
          <a:xfrm>
            <a:off x="3200400" y="2304287"/>
            <a:ext cx="1371600" cy="51206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406640" y="2304287"/>
            <a:ext cx="1371600" cy="512064"/>
          </a:xfrm>
          <a:prstGeom prst="rightArrow">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27248" y="1417319"/>
            <a:ext cx="1554480" cy="457200"/>
          </a:xfrm>
          <a:prstGeom prst="rect">
            <a:avLst/>
          </a:prstGeom>
          <a:noFill/>
        </p:spPr>
        <p:txBody>
          <a:bodyPr wrap="square" anchor="t">
            <a:spAutoFit/>
          </a:bodyPr>
          <a:lstStyle/>
          <a:p>
            <a:pPr algn="ctr">
              <a:spcAft>
                <a:spcPts val="0"/>
              </a:spcAft>
            </a:pPr>
            <a:r>
              <a:rPr sz="1100" b="1">
                <a:solidFill>
                  <a:srgbClr val="2E75B6"/>
                </a:solidFill>
                <a:latin typeface="Calibri"/>
              </a:rPr>
              <a:t>relocate</a:t>
            </a:r>
          </a:p>
          <a:p>
            <a:pPr algn="ctr">
              <a:spcAft>
                <a:spcPts val="0"/>
              </a:spcAft>
            </a:pPr>
            <a:r>
              <a:rPr sz="950" b="0">
                <a:solidFill>
                  <a:srgbClr val="595959"/>
                </a:solidFill>
                <a:latin typeface="Calibri"/>
              </a:rPr>
              <a:t>(vehicle)</a:t>
            </a:r>
          </a:p>
        </p:txBody>
      </p:sp>
      <p:sp>
        <p:nvSpPr>
          <p:cNvPr id="12" name="TextBox 11"/>
          <p:cNvSpPr txBox="1"/>
          <p:nvPr/>
        </p:nvSpPr>
        <p:spPr>
          <a:xfrm>
            <a:off x="7315200" y="1307591"/>
            <a:ext cx="1600200" cy="548640"/>
          </a:xfrm>
          <a:prstGeom prst="rect">
            <a:avLst/>
          </a:prstGeom>
          <a:noFill/>
        </p:spPr>
        <p:txBody>
          <a:bodyPr wrap="square" anchor="t">
            <a:spAutoFit/>
          </a:bodyPr>
          <a:lstStyle/>
          <a:p>
            <a:pPr algn="ctr">
              <a:spcAft>
                <a:spcPts val="0"/>
              </a:spcAft>
            </a:pPr>
            <a:r>
              <a:rPr sz="1050" b="1">
                <a:solidFill>
                  <a:srgbClr val="C55A11"/>
                </a:solidFill>
                <a:latin typeface="Calibri"/>
              </a:rPr>
              <a:t>after ≥ 8 rounds</a:t>
            </a:r>
          </a:p>
          <a:p>
            <a:pPr algn="ctr">
              <a:spcAft>
                <a:spcPts val="0"/>
              </a:spcAft>
            </a:pPr>
            <a:r>
              <a:rPr sz="950" b="0">
                <a:solidFill>
                  <a:srgbClr val="595959"/>
                </a:solidFill>
                <a:latin typeface="Calibri"/>
              </a:rPr>
              <a:t>→ BackToHome task</a:t>
            </a:r>
          </a:p>
        </p:txBody>
      </p:sp>
      <p:sp>
        <p:nvSpPr>
          <p:cNvPr id="13" name="Rounded Rectangle 12"/>
          <p:cNvSpPr/>
          <p:nvPr/>
        </p:nvSpPr>
        <p:spPr>
          <a:xfrm>
            <a:off x="3108960" y="4434840"/>
            <a:ext cx="3108960" cy="1234440"/>
          </a:xfrm>
          <a:prstGeom prst="round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500" b="1">
                <a:solidFill>
                  <a:srgbClr val="FFFFFF"/>
                </a:solidFill>
                <a:latin typeface="Calibri"/>
              </a:rPr>
              <a:t>KITCHEN</a:t>
            </a:r>
          </a:p>
          <a:p>
            <a:pPr algn="ctr"/>
            <a:r>
              <a:rPr sz="1150" b="0">
                <a:solidFill>
                  <a:srgbClr val="E2EFDA"/>
                </a:solidFill>
                <a:latin typeface="Calibri"/>
              </a:rPr>
              <a:t>+10 food/round · cap 20</a:t>
            </a:r>
          </a:p>
          <a:p>
            <a:pPr algn="ctr"/>
            <a:r>
              <a:rPr sz="1150" b="0">
                <a:solidFill>
                  <a:srgbClr val="E2EFDA"/>
                </a:solidFill>
                <a:latin typeface="Calibri"/>
              </a:rPr>
              <a:t>4 workers · $1000</a:t>
            </a:r>
          </a:p>
          <a:p>
            <a:pPr algn="ctr"/>
            <a:r>
              <a:rPr sz="1050" b="0">
                <a:solidFill>
                  <a:srgbClr val="E2EFDA"/>
                </a:solidFill>
                <a:latin typeface="Calibri"/>
              </a:rPr>
              <a:t>waste cleared each day</a:t>
            </a:r>
          </a:p>
        </p:txBody>
      </p:sp>
      <p:sp>
        <p:nvSpPr>
          <p:cNvPr id="14" name="Up Arrow 13"/>
          <p:cNvSpPr/>
          <p:nvPr/>
        </p:nvSpPr>
        <p:spPr>
          <a:xfrm>
            <a:off x="1463040" y="3246120"/>
            <a:ext cx="457200" cy="1188719"/>
          </a:xfrm>
          <a:prstGeom prst="upArrow">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5669280" y="3246120"/>
            <a:ext cx="457200" cy="1188719"/>
          </a:xfrm>
          <a:prstGeom prst="upArrow">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63040" y="4983479"/>
            <a:ext cx="4206240" cy="54864"/>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572000"/>
            <a:ext cx="5303520" cy="1005840"/>
          </a:xfrm>
          <a:prstGeom prst="rect">
            <a:avLst/>
          </a:prstGeom>
          <a:noFill/>
        </p:spPr>
        <p:txBody>
          <a:bodyPr wrap="square" anchor="t">
            <a:spAutoFit/>
          </a:bodyPr>
          <a:lstStyle/>
          <a:p>
            <a:pPr algn="l">
              <a:spcAft>
                <a:spcPts val="400"/>
              </a:spcAft>
            </a:pPr>
            <a:r>
              <a:rPr sz="1300" b="1">
                <a:solidFill>
                  <a:srgbClr val="548235"/>
                </a:solidFill>
                <a:latin typeface="Calibri"/>
              </a:rPr>
              <a:t>Food sustains the system</a:t>
            </a:r>
          </a:p>
          <a:p>
            <a:pPr algn="l">
              <a:spcAft>
                <a:spcPts val="400"/>
              </a:spcAft>
            </a:pPr>
            <a:r>
              <a:rPr sz="1150" b="0">
                <a:solidFill>
                  <a:srgbClr val="222222"/>
                </a:solidFill>
                <a:latin typeface="Calibri"/>
              </a:rPr>
              <a:t>Kitchen → (vehicle or airlift) → Community + Shelter</a:t>
            </a:r>
          </a:p>
          <a:p>
            <a:pPr algn="l">
              <a:spcAft>
                <a:spcPts val="400"/>
              </a:spcAft>
            </a:pPr>
            <a:r>
              <a:rPr sz="1100" b="0">
                <a:solidFill>
                  <a:srgbClr val="595959"/>
                </a:solidFill>
                <a:latin typeface="Calibri"/>
              </a:rPr>
              <a:t>Each resident eats 1 pack every 4 rounds; unfed → satisfaction falls</a:t>
            </a:r>
          </a:p>
        </p:txBody>
      </p:sp>
      <p:sp>
        <p:nvSpPr>
          <p:cNvPr id="18" name="Rounded Rectangle 17"/>
          <p:cNvSpPr/>
          <p:nvPr/>
        </p:nvSpPr>
        <p:spPr>
          <a:xfrm>
            <a:off x="411480" y="3310128"/>
            <a:ext cx="11338560" cy="658368"/>
          </a:xfrm>
          <a:prstGeom prst="roundRect">
            <a:avLst/>
          </a:prstGeom>
          <a:solidFill>
            <a:srgbClr val="4A4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250" b="1">
                <a:solidFill>
                  <a:srgbClr val="FFFFFF"/>
                </a:solidFill>
                <a:latin typeface="Calibri"/>
              </a:rPr>
              <a:t>All relocations AND deferred food deliveries share the same 3 vehicles (1 round/site) — the airlift is the only path that bypasses the fleet.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Benchmark results: who can run the shelter?</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70432"/>
            <a:ext cx="11338560" cy="411480"/>
          </a:xfrm>
          <a:prstGeom prst="rect">
            <a:avLst/>
          </a:prstGeom>
          <a:noFill/>
        </p:spPr>
        <p:txBody>
          <a:bodyPr wrap="square" anchor="t">
            <a:spAutoFit/>
          </a:bodyPr>
          <a:lstStyle/>
          <a:p>
            <a:pPr algn="l"/>
            <a:r>
              <a:rPr sz="1350" b="1">
                <a:solidFill>
                  <a:srgbClr val="595959"/>
                </a:solidFill>
                <a:latin typeface="Calibri"/>
              </a:rPr>
              <a:t>K=1 · auto transfers · minimal prompt · 32 rounds · n=20 (Qwen n=3) · score = satisfaction − cost</a:t>
            </a:r>
          </a:p>
        </p:txBody>
      </p:sp>
      <p:sp>
        <p:nvSpPr>
          <p:cNvPr id="6" name="TextBox 5"/>
          <p:cNvSpPr txBox="1"/>
          <p:nvPr/>
        </p:nvSpPr>
        <p:spPr>
          <a:xfrm>
            <a:off x="502920" y="1746504"/>
            <a:ext cx="3017520" cy="420624"/>
          </a:xfrm>
          <a:prstGeom prst="rect">
            <a:avLst/>
          </a:prstGeom>
          <a:noFill/>
        </p:spPr>
        <p:txBody>
          <a:bodyPr wrap="square" anchor="ctr">
            <a:spAutoFit/>
          </a:bodyPr>
          <a:lstStyle/>
          <a:p>
            <a:pPr algn="r"/>
            <a:r>
              <a:rPr sz="1250" b="1">
                <a:solidFill>
                  <a:srgbClr val="222222"/>
                </a:solidFill>
                <a:latin typeface="Calibri"/>
              </a:rPr>
              <a:t>rules-based-v2</a:t>
            </a:r>
          </a:p>
        </p:txBody>
      </p:sp>
      <p:sp>
        <p:nvSpPr>
          <p:cNvPr id="7" name="Rectangle 6"/>
          <p:cNvSpPr/>
          <p:nvPr/>
        </p:nvSpPr>
        <p:spPr>
          <a:xfrm>
            <a:off x="3611880" y="1783080"/>
            <a:ext cx="5618073" cy="420624"/>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03105" y="1746504"/>
            <a:ext cx="2377440" cy="420624"/>
          </a:xfrm>
          <a:prstGeom prst="rect">
            <a:avLst/>
          </a:prstGeom>
          <a:noFill/>
        </p:spPr>
        <p:txBody>
          <a:bodyPr wrap="square" anchor="ctr">
            <a:spAutoFit/>
          </a:bodyPr>
          <a:lstStyle/>
          <a:p>
            <a:pPr algn="l"/>
            <a:r>
              <a:rPr sz="1300" b="1">
                <a:solidFill>
                  <a:srgbClr val="548235"/>
                </a:solidFill>
                <a:latin typeface="Calibri"/>
              </a:rPr>
              <a:t>2.88</a:t>
            </a:r>
            <a:r>
              <a:rPr sz="1100" b="0">
                <a:solidFill>
                  <a:srgbClr val="595959"/>
                </a:solidFill>
                <a:latin typeface="Calibri"/>
              </a:rPr>
              <a:t>   food 0.96</a:t>
            </a:r>
          </a:p>
        </p:txBody>
      </p:sp>
      <p:sp>
        <p:nvSpPr>
          <p:cNvPr id="9" name="TextBox 8"/>
          <p:cNvSpPr txBox="1"/>
          <p:nvPr/>
        </p:nvSpPr>
        <p:spPr>
          <a:xfrm>
            <a:off x="502920" y="2235708"/>
            <a:ext cx="3017520" cy="420624"/>
          </a:xfrm>
          <a:prstGeom prst="rect">
            <a:avLst/>
          </a:prstGeom>
          <a:noFill/>
        </p:spPr>
        <p:txBody>
          <a:bodyPr wrap="square" anchor="ctr">
            <a:spAutoFit/>
          </a:bodyPr>
          <a:lstStyle/>
          <a:p>
            <a:pPr algn="r"/>
            <a:r>
              <a:rPr sz="1250" b="1">
                <a:solidFill>
                  <a:srgbClr val="222222"/>
                </a:solidFill>
                <a:latin typeface="Calibri"/>
              </a:rPr>
              <a:t>gemini-2.5-pro</a:t>
            </a:r>
          </a:p>
        </p:txBody>
      </p:sp>
      <p:sp>
        <p:nvSpPr>
          <p:cNvPr id="10" name="Rectangle 9"/>
          <p:cNvSpPr/>
          <p:nvPr/>
        </p:nvSpPr>
        <p:spPr>
          <a:xfrm>
            <a:off x="3611880" y="2272284"/>
            <a:ext cx="4252569"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37601" y="2235708"/>
            <a:ext cx="2377440" cy="420624"/>
          </a:xfrm>
          <a:prstGeom prst="rect">
            <a:avLst/>
          </a:prstGeom>
          <a:noFill/>
        </p:spPr>
        <p:txBody>
          <a:bodyPr wrap="square" anchor="ctr">
            <a:spAutoFit/>
          </a:bodyPr>
          <a:lstStyle/>
          <a:p>
            <a:pPr algn="l"/>
            <a:r>
              <a:rPr sz="1300" b="1">
                <a:solidFill>
                  <a:srgbClr val="2E75B6"/>
                </a:solidFill>
                <a:latin typeface="Calibri"/>
              </a:rPr>
              <a:t>2.18</a:t>
            </a:r>
            <a:r>
              <a:rPr sz="1100" b="0">
                <a:solidFill>
                  <a:srgbClr val="595959"/>
                </a:solidFill>
                <a:latin typeface="Calibri"/>
              </a:rPr>
              <a:t>   food 0.48</a:t>
            </a:r>
          </a:p>
        </p:txBody>
      </p:sp>
      <p:sp>
        <p:nvSpPr>
          <p:cNvPr id="12" name="TextBox 11"/>
          <p:cNvSpPr txBox="1"/>
          <p:nvPr/>
        </p:nvSpPr>
        <p:spPr>
          <a:xfrm>
            <a:off x="502920" y="2724912"/>
            <a:ext cx="3017520" cy="420624"/>
          </a:xfrm>
          <a:prstGeom prst="rect">
            <a:avLst/>
          </a:prstGeom>
          <a:noFill/>
        </p:spPr>
        <p:txBody>
          <a:bodyPr wrap="square" anchor="ctr">
            <a:spAutoFit/>
          </a:bodyPr>
          <a:lstStyle/>
          <a:p>
            <a:pPr algn="r"/>
            <a:r>
              <a:rPr sz="1250" b="1">
                <a:solidFill>
                  <a:srgbClr val="222222"/>
                </a:solidFill>
                <a:latin typeface="Calibri"/>
              </a:rPr>
              <a:t>claude-sonnet-4.6</a:t>
            </a:r>
          </a:p>
        </p:txBody>
      </p:sp>
      <p:sp>
        <p:nvSpPr>
          <p:cNvPr id="13" name="Rectangle 12"/>
          <p:cNvSpPr/>
          <p:nvPr/>
        </p:nvSpPr>
        <p:spPr>
          <a:xfrm>
            <a:off x="3611880" y="2761488"/>
            <a:ext cx="3511296"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96328" y="2724912"/>
            <a:ext cx="2377440" cy="420624"/>
          </a:xfrm>
          <a:prstGeom prst="rect">
            <a:avLst/>
          </a:prstGeom>
          <a:noFill/>
        </p:spPr>
        <p:txBody>
          <a:bodyPr wrap="square" anchor="ctr">
            <a:spAutoFit/>
          </a:bodyPr>
          <a:lstStyle/>
          <a:p>
            <a:pPr algn="l"/>
            <a:r>
              <a:rPr sz="1300" b="1">
                <a:solidFill>
                  <a:srgbClr val="2E75B6"/>
                </a:solidFill>
                <a:latin typeface="Calibri"/>
              </a:rPr>
              <a:t>1.80</a:t>
            </a:r>
            <a:r>
              <a:rPr sz="1100" b="0">
                <a:solidFill>
                  <a:srgbClr val="595959"/>
                </a:solidFill>
                <a:latin typeface="Calibri"/>
              </a:rPr>
              <a:t>   food 0.27</a:t>
            </a:r>
          </a:p>
        </p:txBody>
      </p:sp>
      <p:sp>
        <p:nvSpPr>
          <p:cNvPr id="15" name="TextBox 14"/>
          <p:cNvSpPr txBox="1"/>
          <p:nvPr/>
        </p:nvSpPr>
        <p:spPr>
          <a:xfrm>
            <a:off x="502920" y="3214116"/>
            <a:ext cx="3017520" cy="420624"/>
          </a:xfrm>
          <a:prstGeom prst="rect">
            <a:avLst/>
          </a:prstGeom>
          <a:noFill/>
        </p:spPr>
        <p:txBody>
          <a:bodyPr wrap="square" anchor="ctr">
            <a:spAutoFit/>
          </a:bodyPr>
          <a:lstStyle/>
          <a:p>
            <a:pPr algn="r"/>
            <a:r>
              <a:rPr sz="1250" b="1">
                <a:solidFill>
                  <a:srgbClr val="222222"/>
                </a:solidFill>
                <a:latin typeface="Calibri"/>
              </a:rPr>
              <a:t>gpt-5.5</a:t>
            </a:r>
          </a:p>
        </p:txBody>
      </p:sp>
      <p:sp>
        <p:nvSpPr>
          <p:cNvPr id="16" name="Rectangle 15"/>
          <p:cNvSpPr/>
          <p:nvPr/>
        </p:nvSpPr>
        <p:spPr>
          <a:xfrm>
            <a:off x="3611880" y="3250692"/>
            <a:ext cx="3452774"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7806" y="3214116"/>
            <a:ext cx="2377440" cy="420624"/>
          </a:xfrm>
          <a:prstGeom prst="rect">
            <a:avLst/>
          </a:prstGeom>
          <a:noFill/>
        </p:spPr>
        <p:txBody>
          <a:bodyPr wrap="square" anchor="ctr">
            <a:spAutoFit/>
          </a:bodyPr>
          <a:lstStyle/>
          <a:p>
            <a:pPr algn="l"/>
            <a:r>
              <a:rPr sz="1300" b="1">
                <a:solidFill>
                  <a:srgbClr val="2E75B6"/>
                </a:solidFill>
                <a:latin typeface="Calibri"/>
              </a:rPr>
              <a:t>1.77</a:t>
            </a:r>
            <a:r>
              <a:rPr sz="1100" b="0">
                <a:solidFill>
                  <a:srgbClr val="595959"/>
                </a:solidFill>
                <a:latin typeface="Calibri"/>
              </a:rPr>
              <a:t>   food 0.26</a:t>
            </a:r>
          </a:p>
        </p:txBody>
      </p:sp>
      <p:sp>
        <p:nvSpPr>
          <p:cNvPr id="18" name="TextBox 17"/>
          <p:cNvSpPr txBox="1"/>
          <p:nvPr/>
        </p:nvSpPr>
        <p:spPr>
          <a:xfrm>
            <a:off x="502920" y="3703320"/>
            <a:ext cx="3017520" cy="420624"/>
          </a:xfrm>
          <a:prstGeom prst="rect">
            <a:avLst/>
          </a:prstGeom>
          <a:noFill/>
        </p:spPr>
        <p:txBody>
          <a:bodyPr wrap="square" anchor="ctr">
            <a:spAutoFit/>
          </a:bodyPr>
          <a:lstStyle/>
          <a:p>
            <a:pPr algn="r"/>
            <a:r>
              <a:rPr sz="1250" b="1">
                <a:solidFill>
                  <a:srgbClr val="222222"/>
                </a:solidFill>
                <a:latin typeface="Calibri"/>
              </a:rPr>
              <a:t>gpt-5-mini</a:t>
            </a:r>
          </a:p>
        </p:txBody>
      </p:sp>
      <p:sp>
        <p:nvSpPr>
          <p:cNvPr id="19" name="Rectangle 18"/>
          <p:cNvSpPr/>
          <p:nvPr/>
        </p:nvSpPr>
        <p:spPr>
          <a:xfrm>
            <a:off x="3611880" y="3739896"/>
            <a:ext cx="3316224"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1256" y="3703320"/>
            <a:ext cx="2377440" cy="420624"/>
          </a:xfrm>
          <a:prstGeom prst="rect">
            <a:avLst/>
          </a:prstGeom>
          <a:noFill/>
        </p:spPr>
        <p:txBody>
          <a:bodyPr wrap="square" anchor="ctr">
            <a:spAutoFit/>
          </a:bodyPr>
          <a:lstStyle/>
          <a:p>
            <a:pPr algn="l"/>
            <a:r>
              <a:rPr sz="1300" b="1">
                <a:solidFill>
                  <a:srgbClr val="2E75B6"/>
                </a:solidFill>
                <a:latin typeface="Calibri"/>
              </a:rPr>
              <a:t>1.70</a:t>
            </a:r>
            <a:r>
              <a:rPr sz="1100" b="0">
                <a:solidFill>
                  <a:srgbClr val="595959"/>
                </a:solidFill>
                <a:latin typeface="Calibri"/>
              </a:rPr>
              <a:t>   food 0.19</a:t>
            </a:r>
          </a:p>
        </p:txBody>
      </p:sp>
      <p:sp>
        <p:nvSpPr>
          <p:cNvPr id="21" name="TextBox 20"/>
          <p:cNvSpPr txBox="1"/>
          <p:nvPr/>
        </p:nvSpPr>
        <p:spPr>
          <a:xfrm>
            <a:off x="502920" y="4192524"/>
            <a:ext cx="3017520" cy="420624"/>
          </a:xfrm>
          <a:prstGeom prst="rect">
            <a:avLst/>
          </a:prstGeom>
          <a:noFill/>
        </p:spPr>
        <p:txBody>
          <a:bodyPr wrap="square" anchor="ctr">
            <a:spAutoFit/>
          </a:bodyPr>
          <a:lstStyle/>
          <a:p>
            <a:pPr algn="r"/>
            <a:r>
              <a:rPr sz="1250" b="1">
                <a:solidFill>
                  <a:srgbClr val="222222"/>
                </a:solidFill>
                <a:latin typeface="Calibri"/>
              </a:rPr>
              <a:t>claude-haiku-4.5</a:t>
            </a:r>
          </a:p>
        </p:txBody>
      </p:sp>
      <p:sp>
        <p:nvSpPr>
          <p:cNvPr id="22" name="Rectangle 21"/>
          <p:cNvSpPr/>
          <p:nvPr/>
        </p:nvSpPr>
        <p:spPr>
          <a:xfrm>
            <a:off x="3611880" y="4229100"/>
            <a:ext cx="3101644"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6676" y="4192524"/>
            <a:ext cx="2377440" cy="420624"/>
          </a:xfrm>
          <a:prstGeom prst="rect">
            <a:avLst/>
          </a:prstGeom>
          <a:noFill/>
        </p:spPr>
        <p:txBody>
          <a:bodyPr wrap="square" anchor="ctr">
            <a:spAutoFit/>
          </a:bodyPr>
          <a:lstStyle/>
          <a:p>
            <a:pPr algn="l"/>
            <a:r>
              <a:rPr sz="1300" b="1">
                <a:solidFill>
                  <a:srgbClr val="2E75B6"/>
                </a:solidFill>
                <a:latin typeface="Calibri"/>
              </a:rPr>
              <a:t>1.59</a:t>
            </a:r>
            <a:r>
              <a:rPr sz="1100" b="0">
                <a:solidFill>
                  <a:srgbClr val="595959"/>
                </a:solidFill>
                <a:latin typeface="Calibri"/>
              </a:rPr>
              <a:t>   food 0.12</a:t>
            </a:r>
          </a:p>
        </p:txBody>
      </p:sp>
      <p:sp>
        <p:nvSpPr>
          <p:cNvPr id="24" name="TextBox 23"/>
          <p:cNvSpPr txBox="1"/>
          <p:nvPr/>
        </p:nvSpPr>
        <p:spPr>
          <a:xfrm>
            <a:off x="502920" y="4681728"/>
            <a:ext cx="3017520" cy="420624"/>
          </a:xfrm>
          <a:prstGeom prst="rect">
            <a:avLst/>
          </a:prstGeom>
          <a:noFill/>
        </p:spPr>
        <p:txBody>
          <a:bodyPr wrap="square" anchor="ctr">
            <a:spAutoFit/>
          </a:bodyPr>
          <a:lstStyle/>
          <a:p>
            <a:pPr algn="r"/>
            <a:r>
              <a:rPr sz="1250" b="1">
                <a:solidFill>
                  <a:srgbClr val="222222"/>
                </a:solidFill>
                <a:latin typeface="Calibri"/>
              </a:rPr>
              <a:t>claude-opus-4.8</a:t>
            </a:r>
          </a:p>
        </p:txBody>
      </p:sp>
      <p:sp>
        <p:nvSpPr>
          <p:cNvPr id="25" name="Rectangle 24"/>
          <p:cNvSpPr/>
          <p:nvPr/>
        </p:nvSpPr>
        <p:spPr>
          <a:xfrm>
            <a:off x="3611880" y="4718304"/>
            <a:ext cx="2906572"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1604" y="4681728"/>
            <a:ext cx="2377440" cy="420624"/>
          </a:xfrm>
          <a:prstGeom prst="rect">
            <a:avLst/>
          </a:prstGeom>
          <a:noFill/>
        </p:spPr>
        <p:txBody>
          <a:bodyPr wrap="square" anchor="ctr">
            <a:spAutoFit/>
          </a:bodyPr>
          <a:lstStyle/>
          <a:p>
            <a:pPr algn="l"/>
            <a:r>
              <a:rPr sz="1300" b="1">
                <a:solidFill>
                  <a:srgbClr val="2E75B6"/>
                </a:solidFill>
                <a:latin typeface="Calibri"/>
              </a:rPr>
              <a:t>1.49</a:t>
            </a:r>
            <a:r>
              <a:rPr sz="1100" b="0">
                <a:solidFill>
                  <a:srgbClr val="595959"/>
                </a:solidFill>
                <a:latin typeface="Calibri"/>
              </a:rPr>
              <a:t>   food 0.00</a:t>
            </a:r>
          </a:p>
        </p:txBody>
      </p:sp>
      <p:sp>
        <p:nvSpPr>
          <p:cNvPr id="27" name="TextBox 26"/>
          <p:cNvSpPr txBox="1"/>
          <p:nvPr/>
        </p:nvSpPr>
        <p:spPr>
          <a:xfrm>
            <a:off x="502920" y="5170932"/>
            <a:ext cx="3017520" cy="420624"/>
          </a:xfrm>
          <a:prstGeom prst="rect">
            <a:avLst/>
          </a:prstGeom>
          <a:noFill/>
        </p:spPr>
        <p:txBody>
          <a:bodyPr wrap="square" anchor="ctr">
            <a:spAutoFit/>
          </a:bodyPr>
          <a:lstStyle/>
          <a:p>
            <a:pPr algn="r"/>
            <a:r>
              <a:rPr sz="1250" b="1">
                <a:solidFill>
                  <a:srgbClr val="222222"/>
                </a:solidFill>
                <a:latin typeface="Calibri"/>
              </a:rPr>
              <a:t>greedy</a:t>
            </a:r>
          </a:p>
        </p:txBody>
      </p:sp>
      <p:sp>
        <p:nvSpPr>
          <p:cNvPr id="28" name="Rectangle 27"/>
          <p:cNvSpPr/>
          <p:nvPr/>
        </p:nvSpPr>
        <p:spPr>
          <a:xfrm>
            <a:off x="3611880" y="5207508"/>
            <a:ext cx="2165299" cy="420624"/>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0331" y="5170932"/>
            <a:ext cx="2377440" cy="420624"/>
          </a:xfrm>
          <a:prstGeom prst="rect">
            <a:avLst/>
          </a:prstGeom>
          <a:noFill/>
        </p:spPr>
        <p:txBody>
          <a:bodyPr wrap="square" anchor="ctr">
            <a:spAutoFit/>
          </a:bodyPr>
          <a:lstStyle/>
          <a:p>
            <a:pPr algn="l"/>
            <a:r>
              <a:rPr sz="1300" b="1">
                <a:solidFill>
                  <a:srgbClr val="548235"/>
                </a:solidFill>
                <a:latin typeface="Calibri"/>
              </a:rPr>
              <a:t>1.11</a:t>
            </a:r>
            <a:r>
              <a:rPr sz="1100" b="0">
                <a:solidFill>
                  <a:srgbClr val="595959"/>
                </a:solidFill>
                <a:latin typeface="Calibri"/>
              </a:rPr>
              <a:t>   food 0.95</a:t>
            </a:r>
          </a:p>
        </p:txBody>
      </p:sp>
      <p:sp>
        <p:nvSpPr>
          <p:cNvPr id="30" name="TextBox 29"/>
          <p:cNvSpPr txBox="1"/>
          <p:nvPr/>
        </p:nvSpPr>
        <p:spPr>
          <a:xfrm>
            <a:off x="502920" y="5660136"/>
            <a:ext cx="3017520" cy="420624"/>
          </a:xfrm>
          <a:prstGeom prst="rect">
            <a:avLst/>
          </a:prstGeom>
          <a:noFill/>
        </p:spPr>
        <p:txBody>
          <a:bodyPr wrap="square" anchor="ctr">
            <a:spAutoFit/>
          </a:bodyPr>
          <a:lstStyle/>
          <a:p>
            <a:pPr algn="r"/>
            <a:r>
              <a:rPr sz="1250" b="1">
                <a:solidFill>
                  <a:srgbClr val="222222"/>
                </a:solidFill>
                <a:latin typeface="Calibri"/>
              </a:rPr>
              <a:t>qwen2.5-3b (local)</a:t>
            </a:r>
          </a:p>
        </p:txBody>
      </p:sp>
      <p:sp>
        <p:nvSpPr>
          <p:cNvPr id="31" name="Rectangle 30"/>
          <p:cNvSpPr/>
          <p:nvPr/>
        </p:nvSpPr>
        <p:spPr>
          <a:xfrm>
            <a:off x="3611880" y="5696712"/>
            <a:ext cx="1560576" cy="420624"/>
          </a:xfrm>
          <a:prstGeom prst="rect">
            <a:avLst/>
          </a:prstGeom>
          <a:solidFill>
            <a:srgbClr val="6F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45608" y="5660136"/>
            <a:ext cx="2377440" cy="420624"/>
          </a:xfrm>
          <a:prstGeom prst="rect">
            <a:avLst/>
          </a:prstGeom>
          <a:noFill/>
        </p:spPr>
        <p:txBody>
          <a:bodyPr wrap="square" anchor="ctr">
            <a:spAutoFit/>
          </a:bodyPr>
          <a:lstStyle/>
          <a:p>
            <a:pPr algn="l"/>
            <a:r>
              <a:rPr sz="1300" b="1">
                <a:solidFill>
                  <a:srgbClr val="6F30A0"/>
                </a:solidFill>
                <a:latin typeface="Calibri"/>
              </a:rPr>
              <a:t>0.80</a:t>
            </a:r>
            <a:r>
              <a:rPr sz="1100" b="0">
                <a:solidFill>
                  <a:srgbClr val="595959"/>
                </a:solidFill>
                <a:latin typeface="Calibri"/>
              </a:rPr>
              <a:t>   food 0.00</a:t>
            </a:r>
          </a:p>
        </p:txBody>
      </p:sp>
      <p:sp>
        <p:nvSpPr>
          <p:cNvPr id="33" name="Rectangle 32"/>
          <p:cNvSpPr/>
          <p:nvPr/>
        </p:nvSpPr>
        <p:spPr>
          <a:xfrm>
            <a:off x="3611880" y="6231636"/>
            <a:ext cx="274320" cy="18288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59352" y="6140196"/>
            <a:ext cx="2651760" cy="365760"/>
          </a:xfrm>
          <a:prstGeom prst="rect">
            <a:avLst/>
          </a:prstGeom>
          <a:noFill/>
        </p:spPr>
        <p:txBody>
          <a:bodyPr wrap="square" anchor="ctr">
            <a:spAutoFit/>
          </a:bodyPr>
          <a:lstStyle/>
          <a:p>
            <a:pPr algn="l"/>
            <a:r>
              <a:rPr sz="1150" b="0">
                <a:solidFill>
                  <a:srgbClr val="222222"/>
                </a:solidFill>
                <a:latin typeface="Calibri"/>
              </a:rPr>
              <a:t>Non-learning policy</a:t>
            </a:r>
          </a:p>
        </p:txBody>
      </p:sp>
      <p:sp>
        <p:nvSpPr>
          <p:cNvPr id="35" name="Rectangle 34"/>
          <p:cNvSpPr/>
          <p:nvPr/>
        </p:nvSpPr>
        <p:spPr>
          <a:xfrm>
            <a:off x="6537960" y="6231636"/>
            <a:ext cx="274320" cy="18288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85432" y="6140196"/>
            <a:ext cx="2651760" cy="365760"/>
          </a:xfrm>
          <a:prstGeom prst="rect">
            <a:avLst/>
          </a:prstGeom>
          <a:noFill/>
        </p:spPr>
        <p:txBody>
          <a:bodyPr wrap="square" anchor="ctr">
            <a:spAutoFit/>
          </a:bodyPr>
          <a:lstStyle/>
          <a:p>
            <a:pPr algn="l"/>
            <a:r>
              <a:rPr sz="1150" b="0">
                <a:solidFill>
                  <a:srgbClr val="222222"/>
                </a:solidFill>
                <a:latin typeface="Calibri"/>
              </a:rPr>
              <a:t>Frontier LLM (gateway)</a:t>
            </a:r>
          </a:p>
        </p:txBody>
      </p:sp>
      <p:sp>
        <p:nvSpPr>
          <p:cNvPr id="37" name="Rectangle 36"/>
          <p:cNvSpPr/>
          <p:nvPr/>
        </p:nvSpPr>
        <p:spPr>
          <a:xfrm>
            <a:off x="9464040" y="6231636"/>
            <a:ext cx="274320" cy="182880"/>
          </a:xfrm>
          <a:prstGeom prst="rect">
            <a:avLst/>
          </a:prstGeom>
          <a:solidFill>
            <a:srgbClr val="6F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11512" y="6140196"/>
            <a:ext cx="2651760" cy="365760"/>
          </a:xfrm>
          <a:prstGeom prst="rect">
            <a:avLst/>
          </a:prstGeom>
          <a:noFill/>
        </p:spPr>
        <p:txBody>
          <a:bodyPr wrap="square" anchor="ctr">
            <a:spAutoFit/>
          </a:bodyPr>
          <a:lstStyle/>
          <a:p>
            <a:pPr algn="l"/>
            <a:r>
              <a:rPr sz="1150" b="0">
                <a:solidFill>
                  <a:srgbClr val="222222"/>
                </a:solidFill>
                <a:latin typeface="Calibri"/>
              </a:rPr>
              <a:t>Local model, untrained</a:t>
            </a:r>
          </a:p>
        </p:txBody>
      </p:sp>
      <p:sp>
        <p:nvSpPr>
          <p:cNvPr id="39" name="Rounded Rectangle 38"/>
          <p:cNvSpPr/>
          <p:nvPr/>
        </p:nvSpPr>
        <p:spPr>
          <a:xfrm>
            <a:off x="502920" y="5806440"/>
            <a:ext cx="11201400" cy="713232"/>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400" b="1">
                <a:solidFill>
                  <a:srgbClr val="FFFFFF"/>
                </a:solidFill>
                <a:latin typeface="Calibri"/>
              </a:rPr>
              <a:t>A scripted, non-learning policy (rules-based-v2) beats every frontier LLM — and food fulfillment is the separator.</a:t>
            </a:r>
          </a:p>
          <a:p>
            <a:pPr algn="ctr"/>
            <a:r>
              <a:rPr sz="1150" b="0">
                <a:solidFill>
                  <a:srgbClr val="CFDDEE"/>
                </a:solidFill>
                <a:latin typeface="Calibri"/>
              </a:rPr>
              <a:t>Every model that scores low also has low food; the LLMs leave the recurring food supply chain unsolved.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Score breakdown: by axis and by component</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33856"/>
            <a:ext cx="11338560" cy="365760"/>
          </a:xfrm>
          <a:prstGeom prst="rect">
            <a:avLst/>
          </a:prstGeom>
          <a:noFill/>
        </p:spPr>
        <p:txBody>
          <a:bodyPr wrap="square" anchor="t">
            <a:spAutoFit/>
          </a:bodyPr>
          <a:lstStyle/>
          <a:p>
            <a:pPr algn="l"/>
            <a:r>
              <a:rPr sz="1250" b="1">
                <a:solidFill>
                  <a:srgbClr val="595959"/>
                </a:solidFill>
                <a:latin typeface="Calibri"/>
              </a:rPr>
              <a:t>Left — score across the K × transfers ablation (n=20).   Right — where each model's satisfaction is earned (K=1, auto).</a:t>
            </a:r>
          </a:p>
        </p:txBody>
      </p:sp>
      <p:sp>
        <p:nvSpPr>
          <p:cNvPr id="6" name="TextBox 5"/>
          <p:cNvSpPr txBox="1"/>
          <p:nvPr/>
        </p:nvSpPr>
        <p:spPr>
          <a:xfrm>
            <a:off x="502920" y="1554480"/>
            <a:ext cx="5394960" cy="320040"/>
          </a:xfrm>
          <a:prstGeom prst="rect">
            <a:avLst/>
          </a:prstGeom>
          <a:noFill/>
        </p:spPr>
        <p:txBody>
          <a:bodyPr wrap="square" anchor="t">
            <a:spAutoFit/>
          </a:bodyPr>
          <a:lstStyle/>
          <a:p>
            <a:pPr algn="l"/>
            <a:r>
              <a:rPr sz="1400" b="1">
                <a:solidFill>
                  <a:srgbClr val="1F3A5F"/>
                </a:solidFill>
                <a:latin typeface="Calibri"/>
              </a:rPr>
              <a:t>Score across benchmark axes</a:t>
            </a:r>
          </a:p>
        </p:txBody>
      </p:sp>
      <p:sp>
        <p:nvSpPr>
          <p:cNvPr id="7" name="TextBox 6"/>
          <p:cNvSpPr txBox="1"/>
          <p:nvPr/>
        </p:nvSpPr>
        <p:spPr>
          <a:xfrm>
            <a:off x="502920" y="1938528"/>
            <a:ext cx="1828800" cy="457200"/>
          </a:xfrm>
          <a:prstGeom prst="rect">
            <a:avLst/>
          </a:prstGeom>
          <a:noFill/>
        </p:spPr>
        <p:txBody>
          <a:bodyPr wrap="square" anchor="ctr">
            <a:spAutoFit/>
          </a:bodyPr>
          <a:lstStyle/>
          <a:p>
            <a:pPr algn="l"/>
            <a:r>
              <a:rPr sz="1100" b="1">
                <a:solidFill>
                  <a:srgbClr val="222222"/>
                </a:solidFill>
                <a:latin typeface="Calibri"/>
              </a:rPr>
              <a:t>model</a:t>
            </a:r>
          </a:p>
        </p:txBody>
      </p:sp>
      <p:sp>
        <p:nvSpPr>
          <p:cNvPr id="8" name="Rectangle 7"/>
          <p:cNvSpPr/>
          <p:nvPr/>
        </p:nvSpPr>
        <p:spPr>
          <a:xfrm>
            <a:off x="2331720" y="1938528"/>
            <a:ext cx="822960"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1938528"/>
            <a:ext cx="822960" cy="457200"/>
          </a:xfrm>
          <a:prstGeom prst="rect">
            <a:avLst/>
          </a:prstGeom>
          <a:noFill/>
        </p:spPr>
        <p:txBody>
          <a:bodyPr wrap="square" anchor="ctr">
            <a:spAutoFit/>
          </a:bodyPr>
          <a:lstStyle/>
          <a:p>
            <a:pPr algn="ctr"/>
            <a:r>
              <a:rPr sz="1000" b="1">
                <a:solidFill>
                  <a:srgbClr val="FFFFFF"/>
                </a:solidFill>
                <a:latin typeface="Calibri"/>
              </a:rPr>
              <a:t>K1·man</a:t>
            </a:r>
          </a:p>
        </p:txBody>
      </p:sp>
      <p:sp>
        <p:nvSpPr>
          <p:cNvPr id="10" name="Rectangle 9"/>
          <p:cNvSpPr/>
          <p:nvPr/>
        </p:nvSpPr>
        <p:spPr>
          <a:xfrm>
            <a:off x="3154679" y="1938528"/>
            <a:ext cx="822960"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79" y="1938528"/>
            <a:ext cx="822960" cy="457200"/>
          </a:xfrm>
          <a:prstGeom prst="rect">
            <a:avLst/>
          </a:prstGeom>
          <a:noFill/>
        </p:spPr>
        <p:txBody>
          <a:bodyPr wrap="square" anchor="ctr">
            <a:spAutoFit/>
          </a:bodyPr>
          <a:lstStyle/>
          <a:p>
            <a:pPr algn="ctr"/>
            <a:r>
              <a:rPr sz="1000" b="1">
                <a:solidFill>
                  <a:srgbClr val="FFFFFF"/>
                </a:solidFill>
                <a:latin typeface="Calibri"/>
              </a:rPr>
              <a:t>K1·auto</a:t>
            </a:r>
          </a:p>
        </p:txBody>
      </p:sp>
      <p:sp>
        <p:nvSpPr>
          <p:cNvPr id="12" name="Rectangle 11"/>
          <p:cNvSpPr/>
          <p:nvPr/>
        </p:nvSpPr>
        <p:spPr>
          <a:xfrm>
            <a:off x="3977639" y="1938528"/>
            <a:ext cx="822960"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7639" y="1938528"/>
            <a:ext cx="822960" cy="457200"/>
          </a:xfrm>
          <a:prstGeom prst="rect">
            <a:avLst/>
          </a:prstGeom>
          <a:noFill/>
        </p:spPr>
        <p:txBody>
          <a:bodyPr wrap="square" anchor="ctr">
            <a:spAutoFit/>
          </a:bodyPr>
          <a:lstStyle/>
          <a:p>
            <a:pPr algn="ctr"/>
            <a:r>
              <a:rPr sz="1000" b="1">
                <a:solidFill>
                  <a:srgbClr val="FFFFFF"/>
                </a:solidFill>
                <a:latin typeface="Calibri"/>
              </a:rPr>
              <a:t>K32·man</a:t>
            </a:r>
          </a:p>
        </p:txBody>
      </p:sp>
      <p:sp>
        <p:nvSpPr>
          <p:cNvPr id="14" name="Rectangle 13"/>
          <p:cNvSpPr/>
          <p:nvPr/>
        </p:nvSpPr>
        <p:spPr>
          <a:xfrm>
            <a:off x="4800600" y="1938528"/>
            <a:ext cx="822960"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938528"/>
            <a:ext cx="822960" cy="457200"/>
          </a:xfrm>
          <a:prstGeom prst="rect">
            <a:avLst/>
          </a:prstGeom>
          <a:noFill/>
        </p:spPr>
        <p:txBody>
          <a:bodyPr wrap="square" anchor="ctr">
            <a:spAutoFit/>
          </a:bodyPr>
          <a:lstStyle/>
          <a:p>
            <a:pPr algn="ctr"/>
            <a:r>
              <a:rPr sz="1000" b="1">
                <a:solidFill>
                  <a:srgbClr val="FFFFFF"/>
                </a:solidFill>
                <a:latin typeface="Calibri"/>
              </a:rPr>
              <a:t>K32·auto</a:t>
            </a:r>
          </a:p>
        </p:txBody>
      </p:sp>
      <p:sp>
        <p:nvSpPr>
          <p:cNvPr id="16" name="TextBox 15"/>
          <p:cNvSpPr txBox="1"/>
          <p:nvPr/>
        </p:nvSpPr>
        <p:spPr>
          <a:xfrm>
            <a:off x="502920" y="2395728"/>
            <a:ext cx="1828800" cy="457200"/>
          </a:xfrm>
          <a:prstGeom prst="rect">
            <a:avLst/>
          </a:prstGeom>
          <a:noFill/>
        </p:spPr>
        <p:txBody>
          <a:bodyPr wrap="square" anchor="ctr">
            <a:spAutoFit/>
          </a:bodyPr>
          <a:lstStyle/>
          <a:p>
            <a:pPr algn="l"/>
            <a:r>
              <a:rPr sz="1000" b="1">
                <a:solidFill>
                  <a:srgbClr val="222222"/>
                </a:solidFill>
                <a:latin typeface="Calibri"/>
              </a:rPr>
              <a:t>gemini-2.5-pro</a:t>
            </a:r>
          </a:p>
        </p:txBody>
      </p:sp>
      <p:sp>
        <p:nvSpPr>
          <p:cNvPr id="17" name="Rectangle 16"/>
          <p:cNvSpPr/>
          <p:nvPr/>
        </p:nvSpPr>
        <p:spPr>
          <a:xfrm>
            <a:off x="2331720" y="2395728"/>
            <a:ext cx="822960" cy="457200"/>
          </a:xfrm>
          <a:prstGeom prst="rect">
            <a:avLst/>
          </a:prstGeom>
          <a:solidFill>
            <a:srgbClr val="6EA4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395728"/>
            <a:ext cx="822960" cy="457200"/>
          </a:xfrm>
          <a:prstGeom prst="rect">
            <a:avLst/>
          </a:prstGeom>
          <a:noFill/>
        </p:spPr>
        <p:txBody>
          <a:bodyPr wrap="square" anchor="ctr">
            <a:spAutoFit/>
          </a:bodyPr>
          <a:lstStyle/>
          <a:p>
            <a:pPr algn="ctr"/>
            <a:r>
              <a:rPr sz="1100" b="0">
                <a:solidFill>
                  <a:srgbClr val="222222"/>
                </a:solidFill>
                <a:latin typeface="Calibri"/>
              </a:rPr>
              <a:t>2.12</a:t>
            </a:r>
          </a:p>
        </p:txBody>
      </p:sp>
      <p:sp>
        <p:nvSpPr>
          <p:cNvPr id="19" name="Rectangle 18"/>
          <p:cNvSpPr/>
          <p:nvPr/>
        </p:nvSpPr>
        <p:spPr>
          <a:xfrm>
            <a:off x="3154679" y="2395728"/>
            <a:ext cx="822960" cy="457200"/>
          </a:xfrm>
          <a:prstGeom prst="rect">
            <a:avLst/>
          </a:prstGeom>
          <a:solidFill>
            <a:srgbClr val="5F9F54"/>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54679" y="2395728"/>
            <a:ext cx="822960" cy="457200"/>
          </a:xfrm>
          <a:prstGeom prst="rect">
            <a:avLst/>
          </a:prstGeom>
          <a:noFill/>
        </p:spPr>
        <p:txBody>
          <a:bodyPr wrap="square" anchor="ctr">
            <a:spAutoFit/>
          </a:bodyPr>
          <a:lstStyle/>
          <a:p>
            <a:pPr algn="ctr"/>
            <a:r>
              <a:rPr sz="1100" b="1">
                <a:solidFill>
                  <a:srgbClr val="222222"/>
                </a:solidFill>
                <a:latin typeface="Calibri"/>
              </a:rPr>
              <a:t>2.18</a:t>
            </a:r>
          </a:p>
        </p:txBody>
      </p:sp>
      <p:sp>
        <p:nvSpPr>
          <p:cNvPr id="21" name="Rectangle 20"/>
          <p:cNvSpPr/>
          <p:nvPr/>
        </p:nvSpPr>
        <p:spPr>
          <a:xfrm>
            <a:off x="3977639" y="2395728"/>
            <a:ext cx="822960" cy="457200"/>
          </a:xfrm>
          <a:prstGeom prst="rect">
            <a:avLst/>
          </a:prstGeom>
          <a:solidFill>
            <a:srgbClr val="D1C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77639" y="2395728"/>
            <a:ext cx="822960" cy="457200"/>
          </a:xfrm>
          <a:prstGeom prst="rect">
            <a:avLst/>
          </a:prstGeom>
          <a:noFill/>
        </p:spPr>
        <p:txBody>
          <a:bodyPr wrap="square" anchor="ctr">
            <a:spAutoFit/>
          </a:bodyPr>
          <a:lstStyle/>
          <a:p>
            <a:pPr algn="ctr"/>
            <a:r>
              <a:rPr sz="1100" b="0">
                <a:solidFill>
                  <a:srgbClr val="222222"/>
                </a:solidFill>
                <a:latin typeface="Calibri"/>
              </a:rPr>
              <a:t>1.73</a:t>
            </a:r>
          </a:p>
        </p:txBody>
      </p:sp>
      <p:sp>
        <p:nvSpPr>
          <p:cNvPr id="23" name="Rectangle 22"/>
          <p:cNvSpPr/>
          <p:nvPr/>
        </p:nvSpPr>
        <p:spPr>
          <a:xfrm>
            <a:off x="4800600" y="2395728"/>
            <a:ext cx="822960" cy="457200"/>
          </a:xfrm>
          <a:prstGeom prst="rect">
            <a:avLst/>
          </a:prstGeom>
          <a:solidFill>
            <a:srgbClr val="DDC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0600" y="2395728"/>
            <a:ext cx="822960" cy="457200"/>
          </a:xfrm>
          <a:prstGeom prst="rect">
            <a:avLst/>
          </a:prstGeom>
          <a:noFill/>
        </p:spPr>
        <p:txBody>
          <a:bodyPr wrap="square" anchor="ctr">
            <a:spAutoFit/>
          </a:bodyPr>
          <a:lstStyle/>
          <a:p>
            <a:pPr algn="ctr"/>
            <a:r>
              <a:rPr sz="1100" b="0">
                <a:solidFill>
                  <a:srgbClr val="222222"/>
                </a:solidFill>
                <a:latin typeface="Calibri"/>
              </a:rPr>
              <a:t>1.68</a:t>
            </a:r>
          </a:p>
        </p:txBody>
      </p:sp>
      <p:sp>
        <p:nvSpPr>
          <p:cNvPr id="25" name="TextBox 24"/>
          <p:cNvSpPr txBox="1"/>
          <p:nvPr/>
        </p:nvSpPr>
        <p:spPr>
          <a:xfrm>
            <a:off x="502920" y="2852928"/>
            <a:ext cx="1828800" cy="457200"/>
          </a:xfrm>
          <a:prstGeom prst="rect">
            <a:avLst/>
          </a:prstGeom>
          <a:noFill/>
        </p:spPr>
        <p:txBody>
          <a:bodyPr wrap="square" anchor="ctr">
            <a:spAutoFit/>
          </a:bodyPr>
          <a:lstStyle/>
          <a:p>
            <a:pPr algn="l"/>
            <a:r>
              <a:rPr sz="1000" b="1">
                <a:solidFill>
                  <a:srgbClr val="222222"/>
                </a:solidFill>
                <a:latin typeface="Calibri"/>
              </a:rPr>
              <a:t>claude-sonnet-4.6</a:t>
            </a:r>
          </a:p>
        </p:txBody>
      </p:sp>
      <p:sp>
        <p:nvSpPr>
          <p:cNvPr id="26" name="Rectangle 25"/>
          <p:cNvSpPr/>
          <p:nvPr/>
        </p:nvSpPr>
        <p:spPr>
          <a:xfrm>
            <a:off x="2331720" y="2852928"/>
            <a:ext cx="822960" cy="457200"/>
          </a:xfrm>
          <a:prstGeom prst="rect">
            <a:avLst/>
          </a:prstGeom>
          <a:solidFill>
            <a:srgbClr val="EFC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31720" y="2852928"/>
            <a:ext cx="822960" cy="457200"/>
          </a:xfrm>
          <a:prstGeom prst="rect">
            <a:avLst/>
          </a:prstGeom>
          <a:noFill/>
        </p:spPr>
        <p:txBody>
          <a:bodyPr wrap="square" anchor="ctr">
            <a:spAutoFit/>
          </a:bodyPr>
          <a:lstStyle/>
          <a:p>
            <a:pPr algn="ctr"/>
            <a:r>
              <a:rPr sz="1100" b="0">
                <a:solidFill>
                  <a:srgbClr val="222222"/>
                </a:solidFill>
                <a:latin typeface="Calibri"/>
              </a:rPr>
              <a:t>1.61</a:t>
            </a:r>
          </a:p>
        </p:txBody>
      </p:sp>
      <p:sp>
        <p:nvSpPr>
          <p:cNvPr id="28" name="Rectangle 27"/>
          <p:cNvSpPr/>
          <p:nvPr/>
        </p:nvSpPr>
        <p:spPr>
          <a:xfrm>
            <a:off x="3154679" y="2852928"/>
            <a:ext cx="822960" cy="457200"/>
          </a:xfrm>
          <a:prstGeom prst="rect">
            <a:avLst/>
          </a:prstGeom>
          <a:solidFill>
            <a:srgbClr val="BFBC59"/>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54679" y="2852928"/>
            <a:ext cx="822960" cy="457200"/>
          </a:xfrm>
          <a:prstGeom prst="rect">
            <a:avLst/>
          </a:prstGeom>
          <a:noFill/>
        </p:spPr>
        <p:txBody>
          <a:bodyPr wrap="square" anchor="ctr">
            <a:spAutoFit/>
          </a:bodyPr>
          <a:lstStyle/>
          <a:p>
            <a:pPr algn="ctr"/>
            <a:r>
              <a:rPr sz="1100" b="1">
                <a:solidFill>
                  <a:srgbClr val="222222"/>
                </a:solidFill>
                <a:latin typeface="Calibri"/>
              </a:rPr>
              <a:t>1.80</a:t>
            </a:r>
          </a:p>
        </p:txBody>
      </p:sp>
      <p:sp>
        <p:nvSpPr>
          <p:cNvPr id="30" name="Rectangle 29"/>
          <p:cNvSpPr/>
          <p:nvPr/>
        </p:nvSpPr>
        <p:spPr>
          <a:xfrm>
            <a:off x="3977639" y="2852928"/>
            <a:ext cx="822960" cy="457200"/>
          </a:xfrm>
          <a:prstGeom prst="rect">
            <a:avLst/>
          </a:prstGeom>
          <a:solidFill>
            <a:srgbClr val="F0C3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77639" y="2852928"/>
            <a:ext cx="822960" cy="457200"/>
          </a:xfrm>
          <a:prstGeom prst="rect">
            <a:avLst/>
          </a:prstGeom>
          <a:noFill/>
        </p:spPr>
        <p:txBody>
          <a:bodyPr wrap="square" anchor="ctr">
            <a:spAutoFit/>
          </a:bodyPr>
          <a:lstStyle/>
          <a:p>
            <a:pPr algn="ctr"/>
            <a:r>
              <a:rPr sz="1100" b="0">
                <a:solidFill>
                  <a:srgbClr val="222222"/>
                </a:solidFill>
                <a:latin typeface="Calibri"/>
              </a:rPr>
              <a:t>1.56</a:t>
            </a:r>
          </a:p>
        </p:txBody>
      </p:sp>
      <p:sp>
        <p:nvSpPr>
          <p:cNvPr id="32" name="Rectangle 31"/>
          <p:cNvSpPr/>
          <p:nvPr/>
        </p:nvSpPr>
        <p:spPr>
          <a:xfrm>
            <a:off x="4800600" y="2852928"/>
            <a:ext cx="822960" cy="457200"/>
          </a:xfrm>
          <a:prstGeom prst="rect">
            <a:avLst/>
          </a:prstGeom>
          <a:solidFill>
            <a:srgbClr val="F1C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00600" y="2852928"/>
            <a:ext cx="822960" cy="457200"/>
          </a:xfrm>
          <a:prstGeom prst="rect">
            <a:avLst/>
          </a:prstGeom>
          <a:noFill/>
        </p:spPr>
        <p:txBody>
          <a:bodyPr wrap="square" anchor="ctr">
            <a:spAutoFit/>
          </a:bodyPr>
          <a:lstStyle/>
          <a:p>
            <a:pPr algn="ctr"/>
            <a:r>
              <a:rPr sz="1100" b="0">
                <a:solidFill>
                  <a:srgbClr val="222222"/>
                </a:solidFill>
                <a:latin typeface="Calibri"/>
              </a:rPr>
              <a:t>1.59</a:t>
            </a:r>
          </a:p>
        </p:txBody>
      </p:sp>
      <p:sp>
        <p:nvSpPr>
          <p:cNvPr id="34" name="TextBox 33"/>
          <p:cNvSpPr txBox="1"/>
          <p:nvPr/>
        </p:nvSpPr>
        <p:spPr>
          <a:xfrm>
            <a:off x="502920" y="3310128"/>
            <a:ext cx="1828800" cy="457200"/>
          </a:xfrm>
          <a:prstGeom prst="rect">
            <a:avLst/>
          </a:prstGeom>
          <a:noFill/>
        </p:spPr>
        <p:txBody>
          <a:bodyPr wrap="square" anchor="ctr">
            <a:spAutoFit/>
          </a:bodyPr>
          <a:lstStyle/>
          <a:p>
            <a:pPr algn="l"/>
            <a:r>
              <a:rPr sz="1000" b="1">
                <a:solidFill>
                  <a:srgbClr val="222222"/>
                </a:solidFill>
                <a:latin typeface="Calibri"/>
              </a:rPr>
              <a:t>gpt-5.5</a:t>
            </a:r>
          </a:p>
        </p:txBody>
      </p:sp>
      <p:sp>
        <p:nvSpPr>
          <p:cNvPr id="35" name="Rectangle 34"/>
          <p:cNvSpPr/>
          <p:nvPr/>
        </p:nvSpPr>
        <p:spPr>
          <a:xfrm>
            <a:off x="2331720" y="3310128"/>
            <a:ext cx="822960" cy="45720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31720" y="3310128"/>
            <a:ext cx="822960" cy="457200"/>
          </a:xfrm>
          <a:prstGeom prst="rect">
            <a:avLst/>
          </a:prstGeom>
          <a:noFill/>
        </p:spPr>
        <p:txBody>
          <a:bodyPr wrap="square" anchor="ctr">
            <a:spAutoFit/>
          </a:bodyPr>
          <a:lstStyle/>
          <a:p>
            <a:pPr algn="ctr"/>
            <a:r>
              <a:rPr sz="1100" b="0">
                <a:solidFill>
                  <a:srgbClr val="222222"/>
                </a:solidFill>
                <a:latin typeface="Calibri"/>
              </a:rPr>
              <a:t>1.00</a:t>
            </a:r>
          </a:p>
        </p:txBody>
      </p:sp>
      <p:sp>
        <p:nvSpPr>
          <p:cNvPr id="37" name="Rectangle 36"/>
          <p:cNvSpPr/>
          <p:nvPr/>
        </p:nvSpPr>
        <p:spPr>
          <a:xfrm>
            <a:off x="3154679" y="3310128"/>
            <a:ext cx="822960" cy="457200"/>
          </a:xfrm>
          <a:prstGeom prst="rect">
            <a:avLst/>
          </a:prstGeom>
          <a:solidFill>
            <a:srgbClr val="C6BE59"/>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154679" y="3310128"/>
            <a:ext cx="822960" cy="457200"/>
          </a:xfrm>
          <a:prstGeom prst="rect">
            <a:avLst/>
          </a:prstGeom>
          <a:noFill/>
        </p:spPr>
        <p:txBody>
          <a:bodyPr wrap="square" anchor="ctr">
            <a:spAutoFit/>
          </a:bodyPr>
          <a:lstStyle/>
          <a:p>
            <a:pPr algn="ctr"/>
            <a:r>
              <a:rPr sz="1100" b="1">
                <a:solidFill>
                  <a:srgbClr val="222222"/>
                </a:solidFill>
                <a:latin typeface="Calibri"/>
              </a:rPr>
              <a:t>1.77</a:t>
            </a:r>
          </a:p>
        </p:txBody>
      </p:sp>
      <p:sp>
        <p:nvSpPr>
          <p:cNvPr id="39" name="Rectangle 38"/>
          <p:cNvSpPr/>
          <p:nvPr/>
        </p:nvSpPr>
        <p:spPr>
          <a:xfrm>
            <a:off x="3977639" y="3310128"/>
            <a:ext cx="822960" cy="457200"/>
          </a:xfrm>
          <a:prstGeom prst="rect">
            <a:avLst/>
          </a:prstGeom>
          <a:solidFill>
            <a:srgbClr val="DE6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77639" y="3310128"/>
            <a:ext cx="822960" cy="457200"/>
          </a:xfrm>
          <a:prstGeom prst="rect">
            <a:avLst/>
          </a:prstGeom>
          <a:noFill/>
        </p:spPr>
        <p:txBody>
          <a:bodyPr wrap="square" anchor="ctr">
            <a:spAutoFit/>
          </a:bodyPr>
          <a:lstStyle/>
          <a:p>
            <a:pPr algn="ctr"/>
            <a:r>
              <a:rPr sz="1100" b="0">
                <a:solidFill>
                  <a:srgbClr val="222222"/>
                </a:solidFill>
                <a:latin typeface="Calibri"/>
              </a:rPr>
              <a:t>1.13</a:t>
            </a:r>
          </a:p>
        </p:txBody>
      </p:sp>
      <p:sp>
        <p:nvSpPr>
          <p:cNvPr id="41" name="Rectangle 40"/>
          <p:cNvSpPr/>
          <p:nvPr/>
        </p:nvSpPr>
        <p:spPr>
          <a:xfrm>
            <a:off x="4800600" y="3310128"/>
            <a:ext cx="822960" cy="457200"/>
          </a:xfrm>
          <a:prstGeom prst="rect">
            <a:avLst/>
          </a:prstGeom>
          <a:solidFill>
            <a:srgbClr val="E797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00600" y="3310128"/>
            <a:ext cx="822960" cy="457200"/>
          </a:xfrm>
          <a:prstGeom prst="rect">
            <a:avLst/>
          </a:prstGeom>
          <a:noFill/>
        </p:spPr>
        <p:txBody>
          <a:bodyPr wrap="square" anchor="ctr">
            <a:spAutoFit/>
          </a:bodyPr>
          <a:lstStyle/>
          <a:p>
            <a:pPr algn="ctr"/>
            <a:r>
              <a:rPr sz="1100" b="0">
                <a:solidFill>
                  <a:srgbClr val="222222"/>
                </a:solidFill>
                <a:latin typeface="Calibri"/>
              </a:rPr>
              <a:t>1.34</a:t>
            </a:r>
          </a:p>
        </p:txBody>
      </p:sp>
      <p:sp>
        <p:nvSpPr>
          <p:cNvPr id="43" name="TextBox 42"/>
          <p:cNvSpPr txBox="1"/>
          <p:nvPr/>
        </p:nvSpPr>
        <p:spPr>
          <a:xfrm>
            <a:off x="502920" y="3767328"/>
            <a:ext cx="1828800" cy="457200"/>
          </a:xfrm>
          <a:prstGeom prst="rect">
            <a:avLst/>
          </a:prstGeom>
          <a:noFill/>
        </p:spPr>
        <p:txBody>
          <a:bodyPr wrap="square" anchor="ctr">
            <a:spAutoFit/>
          </a:bodyPr>
          <a:lstStyle/>
          <a:p>
            <a:pPr algn="l"/>
            <a:r>
              <a:rPr sz="1000" b="1">
                <a:solidFill>
                  <a:srgbClr val="222222"/>
                </a:solidFill>
                <a:latin typeface="Calibri"/>
              </a:rPr>
              <a:t>gpt-5-mini</a:t>
            </a:r>
          </a:p>
        </p:txBody>
      </p:sp>
      <p:sp>
        <p:nvSpPr>
          <p:cNvPr id="44" name="Rectangle 43"/>
          <p:cNvSpPr/>
          <p:nvPr/>
        </p:nvSpPr>
        <p:spPr>
          <a:xfrm>
            <a:off x="2331720" y="3767328"/>
            <a:ext cx="822960" cy="457200"/>
          </a:xfrm>
          <a:prstGeom prst="rect">
            <a:avLst/>
          </a:prstGeom>
          <a:solidFill>
            <a:srgbClr val="ECAF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331720" y="3767328"/>
            <a:ext cx="822960" cy="457200"/>
          </a:xfrm>
          <a:prstGeom prst="rect">
            <a:avLst/>
          </a:prstGeom>
          <a:noFill/>
        </p:spPr>
        <p:txBody>
          <a:bodyPr wrap="square" anchor="ctr">
            <a:spAutoFit/>
          </a:bodyPr>
          <a:lstStyle/>
          <a:p>
            <a:pPr algn="ctr"/>
            <a:r>
              <a:rPr sz="1100" b="0">
                <a:solidFill>
                  <a:srgbClr val="222222"/>
                </a:solidFill>
                <a:latin typeface="Calibri"/>
              </a:rPr>
              <a:t>1.46</a:t>
            </a:r>
          </a:p>
        </p:txBody>
      </p:sp>
      <p:sp>
        <p:nvSpPr>
          <p:cNvPr id="46" name="Rectangle 45"/>
          <p:cNvSpPr/>
          <p:nvPr/>
        </p:nvSpPr>
        <p:spPr>
          <a:xfrm>
            <a:off x="3154679" y="3767328"/>
            <a:ext cx="822960" cy="457200"/>
          </a:xfrm>
          <a:prstGeom prst="rect">
            <a:avLst/>
          </a:prstGeom>
          <a:solidFill>
            <a:srgbClr val="D8C35A"/>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154679" y="3767328"/>
            <a:ext cx="822960" cy="457200"/>
          </a:xfrm>
          <a:prstGeom prst="rect">
            <a:avLst/>
          </a:prstGeom>
          <a:noFill/>
        </p:spPr>
        <p:txBody>
          <a:bodyPr wrap="square" anchor="ctr">
            <a:spAutoFit/>
          </a:bodyPr>
          <a:lstStyle/>
          <a:p>
            <a:pPr algn="ctr"/>
            <a:r>
              <a:rPr sz="1100" b="1">
                <a:solidFill>
                  <a:srgbClr val="222222"/>
                </a:solidFill>
                <a:latin typeface="Calibri"/>
              </a:rPr>
              <a:t>1.70</a:t>
            </a:r>
          </a:p>
        </p:txBody>
      </p:sp>
      <p:sp>
        <p:nvSpPr>
          <p:cNvPr id="48" name="Rectangle 47"/>
          <p:cNvSpPr/>
          <p:nvPr/>
        </p:nvSpPr>
        <p:spPr>
          <a:xfrm>
            <a:off x="3977639" y="3767328"/>
            <a:ext cx="822960" cy="457200"/>
          </a:xfrm>
          <a:prstGeom prst="rect">
            <a:avLst/>
          </a:prstGeom>
          <a:solidFill>
            <a:srgbClr val="D9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977639" y="3767328"/>
            <a:ext cx="822960" cy="457200"/>
          </a:xfrm>
          <a:prstGeom prst="rect">
            <a:avLst/>
          </a:prstGeom>
          <a:noFill/>
        </p:spPr>
        <p:txBody>
          <a:bodyPr wrap="square" anchor="ctr">
            <a:spAutoFit/>
          </a:bodyPr>
          <a:lstStyle/>
          <a:p>
            <a:pPr algn="ctr"/>
            <a:r>
              <a:rPr sz="1100" b="0">
                <a:solidFill>
                  <a:srgbClr val="222222"/>
                </a:solidFill>
                <a:latin typeface="Calibri"/>
              </a:rPr>
              <a:t>1.02</a:t>
            </a:r>
          </a:p>
        </p:txBody>
      </p:sp>
      <p:sp>
        <p:nvSpPr>
          <p:cNvPr id="50" name="Rectangle 49"/>
          <p:cNvSpPr/>
          <p:nvPr/>
        </p:nvSpPr>
        <p:spPr>
          <a:xfrm>
            <a:off x="4800600" y="3767328"/>
            <a:ext cx="822960" cy="457200"/>
          </a:xfrm>
          <a:prstGeom prst="rect">
            <a:avLst/>
          </a:prstGeom>
          <a:solidFill>
            <a:srgbClr val="E48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00600" y="3767328"/>
            <a:ext cx="822960" cy="457200"/>
          </a:xfrm>
          <a:prstGeom prst="rect">
            <a:avLst/>
          </a:prstGeom>
          <a:noFill/>
        </p:spPr>
        <p:txBody>
          <a:bodyPr wrap="square" anchor="ctr">
            <a:spAutoFit/>
          </a:bodyPr>
          <a:lstStyle/>
          <a:p>
            <a:pPr algn="ctr"/>
            <a:r>
              <a:rPr sz="1100" b="0">
                <a:solidFill>
                  <a:srgbClr val="222222"/>
                </a:solidFill>
                <a:latin typeface="Calibri"/>
              </a:rPr>
              <a:t>1.27</a:t>
            </a:r>
          </a:p>
        </p:txBody>
      </p:sp>
      <p:sp>
        <p:nvSpPr>
          <p:cNvPr id="52" name="TextBox 51"/>
          <p:cNvSpPr txBox="1"/>
          <p:nvPr/>
        </p:nvSpPr>
        <p:spPr>
          <a:xfrm>
            <a:off x="502920" y="4224528"/>
            <a:ext cx="1828800" cy="457200"/>
          </a:xfrm>
          <a:prstGeom prst="rect">
            <a:avLst/>
          </a:prstGeom>
          <a:noFill/>
        </p:spPr>
        <p:txBody>
          <a:bodyPr wrap="square" anchor="ctr">
            <a:spAutoFit/>
          </a:bodyPr>
          <a:lstStyle/>
          <a:p>
            <a:pPr algn="l"/>
            <a:r>
              <a:rPr sz="1000" b="1">
                <a:solidFill>
                  <a:srgbClr val="222222"/>
                </a:solidFill>
                <a:latin typeface="Calibri"/>
              </a:rPr>
              <a:t>claude-haiku-4.5</a:t>
            </a:r>
          </a:p>
        </p:txBody>
      </p:sp>
      <p:sp>
        <p:nvSpPr>
          <p:cNvPr id="53" name="Rectangle 52"/>
          <p:cNvSpPr/>
          <p:nvPr/>
        </p:nvSpPr>
        <p:spPr>
          <a:xfrm>
            <a:off x="2331720" y="4224528"/>
            <a:ext cx="822960" cy="457200"/>
          </a:xfrm>
          <a:prstGeom prst="rect">
            <a:avLst/>
          </a:prstGeom>
          <a:solidFill>
            <a:srgbClr val="EAA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331720" y="4224528"/>
            <a:ext cx="822960" cy="457200"/>
          </a:xfrm>
          <a:prstGeom prst="rect">
            <a:avLst/>
          </a:prstGeom>
          <a:noFill/>
        </p:spPr>
        <p:txBody>
          <a:bodyPr wrap="square" anchor="ctr">
            <a:spAutoFit/>
          </a:bodyPr>
          <a:lstStyle/>
          <a:p>
            <a:pPr algn="ctr"/>
            <a:r>
              <a:rPr sz="1100" b="0">
                <a:solidFill>
                  <a:srgbClr val="222222"/>
                </a:solidFill>
                <a:latin typeface="Calibri"/>
              </a:rPr>
              <a:t>1.43</a:t>
            </a:r>
          </a:p>
        </p:txBody>
      </p:sp>
      <p:sp>
        <p:nvSpPr>
          <p:cNvPr id="55" name="Rectangle 54"/>
          <p:cNvSpPr/>
          <p:nvPr/>
        </p:nvSpPr>
        <p:spPr>
          <a:xfrm>
            <a:off x="3154679" y="4224528"/>
            <a:ext cx="822960" cy="457200"/>
          </a:xfrm>
          <a:prstGeom prst="rect">
            <a:avLst/>
          </a:prstGeom>
          <a:solidFill>
            <a:srgbClr val="F1C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54679" y="4224528"/>
            <a:ext cx="822960" cy="457200"/>
          </a:xfrm>
          <a:prstGeom prst="rect">
            <a:avLst/>
          </a:prstGeom>
          <a:noFill/>
        </p:spPr>
        <p:txBody>
          <a:bodyPr wrap="square" anchor="ctr">
            <a:spAutoFit/>
          </a:bodyPr>
          <a:lstStyle/>
          <a:p>
            <a:pPr algn="ctr"/>
            <a:r>
              <a:rPr sz="1100" b="0">
                <a:solidFill>
                  <a:srgbClr val="222222"/>
                </a:solidFill>
                <a:latin typeface="Calibri"/>
              </a:rPr>
              <a:t>1.59</a:t>
            </a:r>
          </a:p>
        </p:txBody>
      </p:sp>
      <p:sp>
        <p:nvSpPr>
          <p:cNvPr id="57" name="Rectangle 56"/>
          <p:cNvSpPr/>
          <p:nvPr/>
        </p:nvSpPr>
        <p:spPr>
          <a:xfrm>
            <a:off x="3977639" y="4224528"/>
            <a:ext cx="822960" cy="457200"/>
          </a:xfrm>
          <a:prstGeom prst="rect">
            <a:avLst/>
          </a:prstGeom>
          <a:solidFill>
            <a:srgbClr val="EBA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977639" y="4224528"/>
            <a:ext cx="822960" cy="457200"/>
          </a:xfrm>
          <a:prstGeom prst="rect">
            <a:avLst/>
          </a:prstGeom>
          <a:noFill/>
        </p:spPr>
        <p:txBody>
          <a:bodyPr wrap="square" anchor="ctr">
            <a:spAutoFit/>
          </a:bodyPr>
          <a:lstStyle/>
          <a:p>
            <a:pPr algn="ctr"/>
            <a:r>
              <a:rPr sz="1100" b="0">
                <a:solidFill>
                  <a:srgbClr val="222222"/>
                </a:solidFill>
                <a:latin typeface="Calibri"/>
              </a:rPr>
              <a:t>1.44</a:t>
            </a:r>
          </a:p>
        </p:txBody>
      </p:sp>
      <p:sp>
        <p:nvSpPr>
          <p:cNvPr id="59" name="Rectangle 58"/>
          <p:cNvSpPr/>
          <p:nvPr/>
        </p:nvSpPr>
        <p:spPr>
          <a:xfrm>
            <a:off x="4800600" y="4224528"/>
            <a:ext cx="822960" cy="457200"/>
          </a:xfrm>
          <a:prstGeom prst="rect">
            <a:avLst/>
          </a:prstGeom>
          <a:solidFill>
            <a:srgbClr val="E5C75B"/>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00600" y="4224528"/>
            <a:ext cx="822960" cy="457200"/>
          </a:xfrm>
          <a:prstGeom prst="rect">
            <a:avLst/>
          </a:prstGeom>
          <a:noFill/>
        </p:spPr>
        <p:txBody>
          <a:bodyPr wrap="square" anchor="ctr">
            <a:spAutoFit/>
          </a:bodyPr>
          <a:lstStyle/>
          <a:p>
            <a:pPr algn="ctr"/>
            <a:r>
              <a:rPr sz="1100" b="1">
                <a:solidFill>
                  <a:srgbClr val="222222"/>
                </a:solidFill>
                <a:latin typeface="Calibri"/>
              </a:rPr>
              <a:t>1.65</a:t>
            </a:r>
          </a:p>
        </p:txBody>
      </p:sp>
      <p:sp>
        <p:nvSpPr>
          <p:cNvPr id="61" name="TextBox 60"/>
          <p:cNvSpPr txBox="1"/>
          <p:nvPr/>
        </p:nvSpPr>
        <p:spPr>
          <a:xfrm>
            <a:off x="502920" y="4681728"/>
            <a:ext cx="1828800" cy="457200"/>
          </a:xfrm>
          <a:prstGeom prst="rect">
            <a:avLst/>
          </a:prstGeom>
          <a:noFill/>
        </p:spPr>
        <p:txBody>
          <a:bodyPr wrap="square" anchor="ctr">
            <a:spAutoFit/>
          </a:bodyPr>
          <a:lstStyle/>
          <a:p>
            <a:pPr algn="l"/>
            <a:r>
              <a:rPr sz="1000" b="1">
                <a:solidFill>
                  <a:srgbClr val="222222"/>
                </a:solidFill>
                <a:latin typeface="Calibri"/>
              </a:rPr>
              <a:t>claude-opus-4.8</a:t>
            </a:r>
          </a:p>
        </p:txBody>
      </p:sp>
      <p:sp>
        <p:nvSpPr>
          <p:cNvPr id="62" name="Rectangle 61"/>
          <p:cNvSpPr/>
          <p:nvPr/>
        </p:nvSpPr>
        <p:spPr>
          <a:xfrm>
            <a:off x="2331720" y="4681728"/>
            <a:ext cx="822960" cy="457200"/>
          </a:xfrm>
          <a:prstGeom prst="rect">
            <a:avLst/>
          </a:prstGeom>
          <a:solidFill>
            <a:srgbClr val="F0C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331720" y="4681728"/>
            <a:ext cx="822960" cy="457200"/>
          </a:xfrm>
          <a:prstGeom prst="rect">
            <a:avLst/>
          </a:prstGeom>
          <a:noFill/>
        </p:spPr>
        <p:txBody>
          <a:bodyPr wrap="square" anchor="ctr">
            <a:spAutoFit/>
          </a:bodyPr>
          <a:lstStyle/>
          <a:p>
            <a:pPr algn="ctr"/>
            <a:r>
              <a:rPr sz="1100" b="0">
                <a:solidFill>
                  <a:srgbClr val="222222"/>
                </a:solidFill>
                <a:latin typeface="Calibri"/>
              </a:rPr>
              <a:t>1.57</a:t>
            </a:r>
          </a:p>
        </p:txBody>
      </p:sp>
      <p:sp>
        <p:nvSpPr>
          <p:cNvPr id="64" name="Rectangle 63"/>
          <p:cNvSpPr/>
          <p:nvPr/>
        </p:nvSpPr>
        <p:spPr>
          <a:xfrm>
            <a:off x="3154679" y="4681728"/>
            <a:ext cx="822960" cy="457200"/>
          </a:xfrm>
          <a:prstGeom prst="rect">
            <a:avLst/>
          </a:prstGeom>
          <a:solidFill>
            <a:srgbClr val="EDB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154679" y="4681728"/>
            <a:ext cx="822960" cy="457200"/>
          </a:xfrm>
          <a:prstGeom prst="rect">
            <a:avLst/>
          </a:prstGeom>
          <a:noFill/>
        </p:spPr>
        <p:txBody>
          <a:bodyPr wrap="square" anchor="ctr">
            <a:spAutoFit/>
          </a:bodyPr>
          <a:lstStyle/>
          <a:p>
            <a:pPr algn="ctr"/>
            <a:r>
              <a:rPr sz="1100" b="0">
                <a:solidFill>
                  <a:srgbClr val="222222"/>
                </a:solidFill>
                <a:latin typeface="Calibri"/>
              </a:rPr>
              <a:t>1.49</a:t>
            </a:r>
          </a:p>
        </p:txBody>
      </p:sp>
      <p:sp>
        <p:nvSpPr>
          <p:cNvPr id="66" name="Rectangle 65"/>
          <p:cNvSpPr/>
          <p:nvPr/>
        </p:nvSpPr>
        <p:spPr>
          <a:xfrm>
            <a:off x="3977639" y="4681728"/>
            <a:ext cx="822960" cy="457200"/>
          </a:xfrm>
          <a:prstGeom prst="rect">
            <a:avLst/>
          </a:prstGeom>
          <a:solidFill>
            <a:srgbClr val="D1C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977639" y="4681728"/>
            <a:ext cx="822960" cy="457200"/>
          </a:xfrm>
          <a:prstGeom prst="rect">
            <a:avLst/>
          </a:prstGeom>
          <a:noFill/>
        </p:spPr>
        <p:txBody>
          <a:bodyPr wrap="square" anchor="ctr">
            <a:spAutoFit/>
          </a:bodyPr>
          <a:lstStyle/>
          <a:p>
            <a:pPr algn="ctr"/>
            <a:r>
              <a:rPr sz="1100" b="0">
                <a:solidFill>
                  <a:srgbClr val="222222"/>
                </a:solidFill>
                <a:latin typeface="Calibri"/>
              </a:rPr>
              <a:t>1.73</a:t>
            </a:r>
          </a:p>
        </p:txBody>
      </p:sp>
      <p:sp>
        <p:nvSpPr>
          <p:cNvPr id="68" name="Rectangle 67"/>
          <p:cNvSpPr/>
          <p:nvPr/>
        </p:nvSpPr>
        <p:spPr>
          <a:xfrm>
            <a:off x="4800600" y="4681728"/>
            <a:ext cx="822960" cy="457200"/>
          </a:xfrm>
          <a:prstGeom prst="rect">
            <a:avLst/>
          </a:prstGeom>
          <a:solidFill>
            <a:srgbClr val="C9BF59"/>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00600" y="4681728"/>
            <a:ext cx="822960" cy="457200"/>
          </a:xfrm>
          <a:prstGeom prst="rect">
            <a:avLst/>
          </a:prstGeom>
          <a:noFill/>
        </p:spPr>
        <p:txBody>
          <a:bodyPr wrap="square" anchor="ctr">
            <a:spAutoFit/>
          </a:bodyPr>
          <a:lstStyle/>
          <a:p>
            <a:pPr algn="ctr"/>
            <a:r>
              <a:rPr sz="1100" b="1">
                <a:solidFill>
                  <a:srgbClr val="222222"/>
                </a:solidFill>
                <a:latin typeface="Calibri"/>
              </a:rPr>
              <a:t>1.76</a:t>
            </a:r>
          </a:p>
        </p:txBody>
      </p:sp>
      <p:sp>
        <p:nvSpPr>
          <p:cNvPr id="70" name="TextBox 69"/>
          <p:cNvSpPr txBox="1"/>
          <p:nvPr/>
        </p:nvSpPr>
        <p:spPr>
          <a:xfrm>
            <a:off x="502920" y="5212080"/>
            <a:ext cx="5120640" cy="868680"/>
          </a:xfrm>
          <a:prstGeom prst="rect">
            <a:avLst/>
          </a:prstGeom>
          <a:noFill/>
        </p:spPr>
        <p:txBody>
          <a:bodyPr wrap="square" anchor="t">
            <a:spAutoFit/>
          </a:bodyPr>
          <a:lstStyle/>
          <a:p>
            <a:pPr algn="l">
              <a:spcAft>
                <a:spcPts val="0"/>
              </a:spcAft>
            </a:pPr>
            <a:r>
              <a:rPr sz="1050" b="1">
                <a:solidFill>
                  <a:srgbClr val="222222"/>
                </a:solidFill>
                <a:latin typeface="Calibri"/>
              </a:rPr>
              <a:t>Auto ≥ manual almost everywhere (free vehicles).  </a:t>
            </a:r>
            <a:r>
              <a:rPr sz="1050" b="0">
                <a:solidFill>
                  <a:srgbClr val="595959"/>
                </a:solidFill>
                <a:latin typeface="Calibri"/>
              </a:rPr>
              <a:t>Long history (K32) helps only opus &amp; haiku; it </a:t>
            </a:r>
            <a:r>
              <a:rPr sz="1050" b="1">
                <a:solidFill>
                  <a:srgbClr val="C55A11"/>
                </a:solidFill>
                <a:latin typeface="Calibri"/>
              </a:rPr>
              <a:t>hurts</a:t>
            </a:r>
            <a:r>
              <a:rPr sz="1050" b="0">
                <a:solidFill>
                  <a:srgbClr val="595959"/>
                </a:solidFill>
                <a:latin typeface="Calibri"/>
              </a:rPr>
              <a:t> gemini &amp; the gpt models — they lose the food thread over a long window.</a:t>
            </a:r>
          </a:p>
        </p:txBody>
      </p:sp>
      <p:sp>
        <p:nvSpPr>
          <p:cNvPr id="71" name="TextBox 70"/>
          <p:cNvSpPr txBox="1"/>
          <p:nvPr/>
        </p:nvSpPr>
        <p:spPr>
          <a:xfrm>
            <a:off x="6355080" y="1554480"/>
            <a:ext cx="5486400" cy="320040"/>
          </a:xfrm>
          <a:prstGeom prst="rect">
            <a:avLst/>
          </a:prstGeom>
          <a:noFill/>
        </p:spPr>
        <p:txBody>
          <a:bodyPr wrap="square" anchor="t">
            <a:spAutoFit/>
          </a:bodyPr>
          <a:lstStyle/>
          <a:p>
            <a:pPr algn="l"/>
            <a:r>
              <a:rPr sz="1400" b="1">
                <a:solidFill>
                  <a:srgbClr val="1F3A5F"/>
                </a:solidFill>
                <a:latin typeface="Calibri"/>
              </a:rPr>
              <a:t>Satisfaction composition  (stacked → total)</a:t>
            </a:r>
          </a:p>
        </p:txBody>
      </p:sp>
      <p:sp>
        <p:nvSpPr>
          <p:cNvPr id="72" name="TextBox 71"/>
          <p:cNvSpPr txBox="1"/>
          <p:nvPr/>
        </p:nvSpPr>
        <p:spPr>
          <a:xfrm>
            <a:off x="6309360" y="1993392"/>
            <a:ext cx="1691640" cy="457200"/>
          </a:xfrm>
          <a:prstGeom prst="rect">
            <a:avLst/>
          </a:prstGeom>
          <a:noFill/>
        </p:spPr>
        <p:txBody>
          <a:bodyPr wrap="square" anchor="ctr">
            <a:spAutoFit/>
          </a:bodyPr>
          <a:lstStyle/>
          <a:p>
            <a:pPr algn="r"/>
            <a:r>
              <a:rPr sz="1000" b="1">
                <a:solidFill>
                  <a:srgbClr val="222222"/>
                </a:solidFill>
                <a:latin typeface="Calibri"/>
              </a:rPr>
              <a:t>gemini-2.5-pro</a:t>
            </a:r>
          </a:p>
        </p:txBody>
      </p:sp>
      <p:sp>
        <p:nvSpPr>
          <p:cNvPr id="73" name="Rectangle 72"/>
          <p:cNvSpPr/>
          <p:nvPr/>
        </p:nvSpPr>
        <p:spPr>
          <a:xfrm>
            <a:off x="8046720" y="2057400"/>
            <a:ext cx="636422" cy="310896"/>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683142" y="2057400"/>
            <a:ext cx="954633"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637776" y="20574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963656" y="2057400"/>
            <a:ext cx="450799"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460175" y="1993392"/>
            <a:ext cx="640080" cy="457200"/>
          </a:xfrm>
          <a:prstGeom prst="rect">
            <a:avLst/>
          </a:prstGeom>
          <a:noFill/>
        </p:spPr>
        <p:txBody>
          <a:bodyPr wrap="square" anchor="ctr">
            <a:spAutoFit/>
          </a:bodyPr>
          <a:lstStyle/>
          <a:p>
            <a:pPr algn="l"/>
            <a:r>
              <a:rPr sz="1100" b="1">
                <a:solidFill>
                  <a:srgbClr val="222222"/>
                </a:solidFill>
                <a:latin typeface="Calibri"/>
              </a:rPr>
              <a:t>2.54</a:t>
            </a:r>
          </a:p>
        </p:txBody>
      </p:sp>
      <p:sp>
        <p:nvSpPr>
          <p:cNvPr id="78" name="TextBox 77"/>
          <p:cNvSpPr txBox="1"/>
          <p:nvPr/>
        </p:nvSpPr>
        <p:spPr>
          <a:xfrm>
            <a:off x="6309360" y="2450592"/>
            <a:ext cx="1691640" cy="457200"/>
          </a:xfrm>
          <a:prstGeom prst="rect">
            <a:avLst/>
          </a:prstGeom>
          <a:noFill/>
        </p:spPr>
        <p:txBody>
          <a:bodyPr wrap="square" anchor="ctr">
            <a:spAutoFit/>
          </a:bodyPr>
          <a:lstStyle/>
          <a:p>
            <a:pPr algn="r"/>
            <a:r>
              <a:rPr sz="1000" b="1">
                <a:solidFill>
                  <a:srgbClr val="222222"/>
                </a:solidFill>
                <a:latin typeface="Calibri"/>
              </a:rPr>
              <a:t>claude-sonnet-4.6</a:t>
            </a:r>
          </a:p>
        </p:txBody>
      </p:sp>
      <p:sp>
        <p:nvSpPr>
          <p:cNvPr id="79" name="Rectangle 78"/>
          <p:cNvSpPr/>
          <p:nvPr/>
        </p:nvSpPr>
        <p:spPr>
          <a:xfrm>
            <a:off x="8046720" y="2514600"/>
            <a:ext cx="357987" cy="310896"/>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404707" y="2514600"/>
            <a:ext cx="1047445"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452152" y="25146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778032" y="2514600"/>
            <a:ext cx="265176"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088928" y="2450592"/>
            <a:ext cx="640080" cy="457200"/>
          </a:xfrm>
          <a:prstGeom prst="rect">
            <a:avLst/>
          </a:prstGeom>
          <a:noFill/>
        </p:spPr>
        <p:txBody>
          <a:bodyPr wrap="square" anchor="ctr">
            <a:spAutoFit/>
          </a:bodyPr>
          <a:lstStyle/>
          <a:p>
            <a:pPr algn="l"/>
            <a:r>
              <a:rPr sz="1100" b="1">
                <a:solidFill>
                  <a:srgbClr val="222222"/>
                </a:solidFill>
                <a:latin typeface="Calibri"/>
              </a:rPr>
              <a:t>2.26</a:t>
            </a:r>
          </a:p>
        </p:txBody>
      </p:sp>
      <p:sp>
        <p:nvSpPr>
          <p:cNvPr id="84" name="TextBox 83"/>
          <p:cNvSpPr txBox="1"/>
          <p:nvPr/>
        </p:nvSpPr>
        <p:spPr>
          <a:xfrm>
            <a:off x="6309360" y="2907792"/>
            <a:ext cx="1691640" cy="457200"/>
          </a:xfrm>
          <a:prstGeom prst="rect">
            <a:avLst/>
          </a:prstGeom>
          <a:noFill/>
        </p:spPr>
        <p:txBody>
          <a:bodyPr wrap="square" anchor="ctr">
            <a:spAutoFit/>
          </a:bodyPr>
          <a:lstStyle/>
          <a:p>
            <a:pPr algn="r"/>
            <a:r>
              <a:rPr sz="1000" b="1">
                <a:solidFill>
                  <a:srgbClr val="222222"/>
                </a:solidFill>
                <a:latin typeface="Calibri"/>
              </a:rPr>
              <a:t>gpt-5.5</a:t>
            </a:r>
          </a:p>
        </p:txBody>
      </p:sp>
      <p:sp>
        <p:nvSpPr>
          <p:cNvPr id="85" name="Rectangle 84"/>
          <p:cNvSpPr/>
          <p:nvPr/>
        </p:nvSpPr>
        <p:spPr>
          <a:xfrm>
            <a:off x="8046720" y="2971800"/>
            <a:ext cx="344728" cy="310896"/>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8391448" y="2971800"/>
            <a:ext cx="1007668"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399117" y="29718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10724997" y="2971800"/>
            <a:ext cx="251917"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022634" y="2907792"/>
            <a:ext cx="640080" cy="457200"/>
          </a:xfrm>
          <a:prstGeom prst="rect">
            <a:avLst/>
          </a:prstGeom>
          <a:noFill/>
        </p:spPr>
        <p:txBody>
          <a:bodyPr wrap="square" anchor="ctr">
            <a:spAutoFit/>
          </a:bodyPr>
          <a:lstStyle/>
          <a:p>
            <a:pPr algn="l"/>
            <a:r>
              <a:rPr sz="1100" b="1">
                <a:solidFill>
                  <a:srgbClr val="222222"/>
                </a:solidFill>
                <a:latin typeface="Calibri"/>
              </a:rPr>
              <a:t>2.21</a:t>
            </a:r>
          </a:p>
        </p:txBody>
      </p:sp>
      <p:sp>
        <p:nvSpPr>
          <p:cNvPr id="90" name="TextBox 89"/>
          <p:cNvSpPr txBox="1"/>
          <p:nvPr/>
        </p:nvSpPr>
        <p:spPr>
          <a:xfrm>
            <a:off x="6309360" y="3364992"/>
            <a:ext cx="1691640" cy="457200"/>
          </a:xfrm>
          <a:prstGeom prst="rect">
            <a:avLst/>
          </a:prstGeom>
          <a:noFill/>
        </p:spPr>
        <p:txBody>
          <a:bodyPr wrap="square" anchor="ctr">
            <a:spAutoFit/>
          </a:bodyPr>
          <a:lstStyle/>
          <a:p>
            <a:pPr algn="r"/>
            <a:r>
              <a:rPr sz="1000" b="1">
                <a:solidFill>
                  <a:srgbClr val="222222"/>
                </a:solidFill>
                <a:latin typeface="Calibri"/>
              </a:rPr>
              <a:t>gpt-5-mini</a:t>
            </a:r>
          </a:p>
        </p:txBody>
      </p:sp>
      <p:sp>
        <p:nvSpPr>
          <p:cNvPr id="91" name="Rectangle 90"/>
          <p:cNvSpPr/>
          <p:nvPr/>
        </p:nvSpPr>
        <p:spPr>
          <a:xfrm>
            <a:off x="8046720" y="3429000"/>
            <a:ext cx="251917" cy="310896"/>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298637" y="3429000"/>
            <a:ext cx="530352"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828989" y="34290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154869" y="3429000"/>
            <a:ext cx="636422"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837011" y="3364992"/>
            <a:ext cx="640080" cy="457200"/>
          </a:xfrm>
          <a:prstGeom prst="rect">
            <a:avLst/>
          </a:prstGeom>
          <a:noFill/>
        </p:spPr>
        <p:txBody>
          <a:bodyPr wrap="square" anchor="ctr">
            <a:spAutoFit/>
          </a:bodyPr>
          <a:lstStyle/>
          <a:p>
            <a:pPr algn="l"/>
            <a:r>
              <a:rPr sz="1100" b="1">
                <a:solidFill>
                  <a:srgbClr val="222222"/>
                </a:solidFill>
                <a:latin typeface="Calibri"/>
              </a:rPr>
              <a:t>2.07</a:t>
            </a:r>
          </a:p>
        </p:txBody>
      </p:sp>
      <p:sp>
        <p:nvSpPr>
          <p:cNvPr id="96" name="TextBox 95"/>
          <p:cNvSpPr txBox="1"/>
          <p:nvPr/>
        </p:nvSpPr>
        <p:spPr>
          <a:xfrm>
            <a:off x="6309360" y="3822191"/>
            <a:ext cx="1691640" cy="457200"/>
          </a:xfrm>
          <a:prstGeom prst="rect">
            <a:avLst/>
          </a:prstGeom>
          <a:noFill/>
        </p:spPr>
        <p:txBody>
          <a:bodyPr wrap="square" anchor="ctr">
            <a:spAutoFit/>
          </a:bodyPr>
          <a:lstStyle/>
          <a:p>
            <a:pPr algn="r"/>
            <a:r>
              <a:rPr sz="1000" b="1">
                <a:solidFill>
                  <a:srgbClr val="222222"/>
                </a:solidFill>
                <a:latin typeface="Calibri"/>
              </a:rPr>
              <a:t>claude-haiku-4.5</a:t>
            </a:r>
          </a:p>
        </p:txBody>
      </p:sp>
      <p:sp>
        <p:nvSpPr>
          <p:cNvPr id="97" name="Rectangle 96"/>
          <p:cNvSpPr/>
          <p:nvPr/>
        </p:nvSpPr>
        <p:spPr>
          <a:xfrm>
            <a:off x="8046720" y="3886200"/>
            <a:ext cx="159105" cy="310896"/>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8205825" y="3886200"/>
            <a:ext cx="994409"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9200235" y="38862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526115" y="3886200"/>
            <a:ext cx="371246"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943082" y="3822191"/>
            <a:ext cx="640080" cy="457200"/>
          </a:xfrm>
          <a:prstGeom prst="rect">
            <a:avLst/>
          </a:prstGeom>
          <a:noFill/>
        </p:spPr>
        <p:txBody>
          <a:bodyPr wrap="square" anchor="ctr">
            <a:spAutoFit/>
          </a:bodyPr>
          <a:lstStyle/>
          <a:p>
            <a:pPr algn="l"/>
            <a:r>
              <a:rPr sz="1100" b="1">
                <a:solidFill>
                  <a:srgbClr val="222222"/>
                </a:solidFill>
                <a:latin typeface="Calibri"/>
              </a:rPr>
              <a:t>2.15</a:t>
            </a:r>
          </a:p>
        </p:txBody>
      </p:sp>
      <p:sp>
        <p:nvSpPr>
          <p:cNvPr id="102" name="TextBox 101"/>
          <p:cNvSpPr txBox="1"/>
          <p:nvPr/>
        </p:nvSpPr>
        <p:spPr>
          <a:xfrm>
            <a:off x="6309360" y="4279392"/>
            <a:ext cx="1691640" cy="457200"/>
          </a:xfrm>
          <a:prstGeom prst="rect">
            <a:avLst/>
          </a:prstGeom>
          <a:noFill/>
        </p:spPr>
        <p:txBody>
          <a:bodyPr wrap="square" anchor="ctr">
            <a:spAutoFit/>
          </a:bodyPr>
          <a:lstStyle/>
          <a:p>
            <a:pPr algn="r"/>
            <a:r>
              <a:rPr sz="1000" b="1">
                <a:solidFill>
                  <a:srgbClr val="222222"/>
                </a:solidFill>
                <a:latin typeface="Calibri"/>
              </a:rPr>
              <a:t>claude-opus-4.8</a:t>
            </a:r>
          </a:p>
        </p:txBody>
      </p:sp>
      <p:sp>
        <p:nvSpPr>
          <p:cNvPr id="103" name="Rectangle 102"/>
          <p:cNvSpPr/>
          <p:nvPr/>
        </p:nvSpPr>
        <p:spPr>
          <a:xfrm>
            <a:off x="8046720" y="4343400"/>
            <a:ext cx="1047445" cy="310896"/>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094165" y="4343400"/>
            <a:ext cx="1325880" cy="31089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420045" y="4343400"/>
            <a:ext cx="304952" cy="310896"/>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0770717" y="4279392"/>
            <a:ext cx="640080" cy="457200"/>
          </a:xfrm>
          <a:prstGeom prst="rect">
            <a:avLst/>
          </a:prstGeom>
          <a:noFill/>
        </p:spPr>
        <p:txBody>
          <a:bodyPr wrap="square" anchor="ctr">
            <a:spAutoFit/>
          </a:bodyPr>
          <a:lstStyle/>
          <a:p>
            <a:pPr algn="l"/>
            <a:r>
              <a:rPr sz="1100" b="1">
                <a:solidFill>
                  <a:srgbClr val="222222"/>
                </a:solidFill>
                <a:latin typeface="Calibri"/>
              </a:rPr>
              <a:t>2.02</a:t>
            </a:r>
          </a:p>
        </p:txBody>
      </p:sp>
      <p:sp>
        <p:nvSpPr>
          <p:cNvPr id="107" name="Rectangle 106"/>
          <p:cNvSpPr/>
          <p:nvPr/>
        </p:nvSpPr>
        <p:spPr>
          <a:xfrm>
            <a:off x="8046720" y="4846320"/>
            <a:ext cx="219456" cy="164592"/>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321040" y="4754880"/>
            <a:ext cx="1051560" cy="365760"/>
          </a:xfrm>
          <a:prstGeom prst="rect">
            <a:avLst/>
          </a:prstGeom>
          <a:noFill/>
        </p:spPr>
        <p:txBody>
          <a:bodyPr wrap="square" anchor="ctr">
            <a:spAutoFit/>
          </a:bodyPr>
          <a:lstStyle/>
          <a:p>
            <a:pPr algn="l"/>
            <a:r>
              <a:rPr sz="950" b="0">
                <a:solidFill>
                  <a:srgbClr val="222222"/>
                </a:solidFill>
                <a:latin typeface="Calibri"/>
              </a:rPr>
              <a:t>food</a:t>
            </a:r>
          </a:p>
        </p:txBody>
      </p:sp>
      <p:sp>
        <p:nvSpPr>
          <p:cNvPr id="109" name="Rectangle 108"/>
          <p:cNvSpPr/>
          <p:nvPr/>
        </p:nvSpPr>
        <p:spPr>
          <a:xfrm>
            <a:off x="9326880" y="4846320"/>
            <a:ext cx="219456" cy="16459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9601200" y="4754880"/>
            <a:ext cx="1051560" cy="365760"/>
          </a:xfrm>
          <a:prstGeom prst="rect">
            <a:avLst/>
          </a:prstGeom>
          <a:noFill/>
        </p:spPr>
        <p:txBody>
          <a:bodyPr wrap="square" anchor="ctr">
            <a:spAutoFit/>
          </a:bodyPr>
          <a:lstStyle/>
          <a:p>
            <a:pPr algn="l"/>
            <a:r>
              <a:rPr sz="950" b="0">
                <a:solidFill>
                  <a:srgbClr val="222222"/>
                </a:solidFill>
                <a:latin typeface="Calibri"/>
              </a:rPr>
              <a:t>lodging</a:t>
            </a:r>
          </a:p>
        </p:txBody>
      </p:sp>
      <p:sp>
        <p:nvSpPr>
          <p:cNvPr id="111" name="Rectangle 110"/>
          <p:cNvSpPr/>
          <p:nvPr/>
        </p:nvSpPr>
        <p:spPr>
          <a:xfrm>
            <a:off x="10607040" y="4846320"/>
            <a:ext cx="219456" cy="1645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881360" y="4754880"/>
            <a:ext cx="1051560" cy="365760"/>
          </a:xfrm>
          <a:prstGeom prst="rect">
            <a:avLst/>
          </a:prstGeom>
          <a:noFill/>
        </p:spPr>
        <p:txBody>
          <a:bodyPr wrap="square" anchor="ctr">
            <a:spAutoFit/>
          </a:bodyPr>
          <a:lstStyle/>
          <a:p>
            <a:pPr algn="l"/>
            <a:r>
              <a:rPr sz="950" b="0">
                <a:solidFill>
                  <a:srgbClr val="222222"/>
                </a:solidFill>
                <a:latin typeface="Calibri"/>
              </a:rPr>
              <a:t>worker-use</a:t>
            </a:r>
          </a:p>
        </p:txBody>
      </p:sp>
      <p:sp>
        <p:nvSpPr>
          <p:cNvPr id="113" name="Rectangle 112"/>
          <p:cNvSpPr/>
          <p:nvPr/>
        </p:nvSpPr>
        <p:spPr>
          <a:xfrm>
            <a:off x="11887200" y="4846320"/>
            <a:ext cx="219456" cy="16459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2161520" y="4754880"/>
            <a:ext cx="1051560" cy="365760"/>
          </a:xfrm>
          <a:prstGeom prst="rect">
            <a:avLst/>
          </a:prstGeom>
          <a:noFill/>
        </p:spPr>
        <p:txBody>
          <a:bodyPr wrap="square" anchor="ctr">
            <a:spAutoFit/>
          </a:bodyPr>
          <a:lstStyle/>
          <a:p>
            <a:pPr algn="l"/>
            <a:r>
              <a:rPr sz="950" b="0">
                <a:solidFill>
                  <a:srgbClr val="222222"/>
                </a:solidFill>
                <a:latin typeface="Calibri"/>
              </a:rPr>
              <a:t>casework</a:t>
            </a:r>
          </a:p>
        </p:txBody>
      </p:sp>
      <p:sp>
        <p:nvSpPr>
          <p:cNvPr id="115" name="Rounded Rectangle 114"/>
          <p:cNvSpPr/>
          <p:nvPr/>
        </p:nvSpPr>
        <p:spPr>
          <a:xfrm>
            <a:off x="502920" y="5943600"/>
            <a:ext cx="11201400" cy="658368"/>
          </a:xfrm>
          <a:prstGeom prst="round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50800" bIns="50800"/>
          <a:lstStyle/>
          <a:p>
            <a:pPr algn="ctr"/>
            <a:r>
              <a:rPr sz="1250" b="1">
                <a:solidFill>
                  <a:srgbClr val="FFFFFF"/>
                </a:solidFill>
                <a:latin typeface="Calibri"/>
              </a:rPr>
              <a:t>worker-use saturates at 1.00 for every model and lodging sits at ~0.7–0.8 — food (green) is the only axis that separates them, and it never clears 0.48.</a:t>
            </a:r>
          </a:p>
          <a:p>
            <a:pPr algn="ctr"/>
            <a:r>
              <a:rPr sz="1100" b="0">
                <a:solidFill>
                  <a:srgbClr val="E2EFDA"/>
                </a:solidFill>
                <a:latin typeface="Calibri"/>
              </a:rPr>
              <a:t>opus is the limit case: food = 0.00, so its bar is pure lodging + worker + casework.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rules-based-v2: a horizon-priced supply-chain controller</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33856"/>
            <a:ext cx="11338560" cy="365760"/>
          </a:xfrm>
          <a:prstGeom prst="rect">
            <a:avLst/>
          </a:prstGeom>
          <a:noFill/>
        </p:spPr>
        <p:txBody>
          <a:bodyPr wrap="square" anchor="t">
            <a:spAutoFit/>
          </a:bodyPr>
          <a:lstStyle/>
          <a:p>
            <a:pPr algn="l"/>
            <a:r>
              <a:rPr sz="1300" b="1">
                <a:solidFill>
                  <a:srgbClr val="595959"/>
                </a:solidFill>
                <a:latin typeface="Calibri"/>
              </a:rPr>
              <a:t>No learning, no API. Each round, greedy on a value function that prices the whole remaining horizon.</a:t>
            </a:r>
          </a:p>
        </p:txBody>
      </p:sp>
      <p:sp>
        <p:nvSpPr>
          <p:cNvPr id="6" name="Rounded Rectangle 5"/>
          <p:cNvSpPr/>
          <p:nvPr/>
        </p:nvSpPr>
        <p:spPr>
          <a:xfrm>
            <a:off x="502920" y="1627632"/>
            <a:ext cx="11201400" cy="1234440"/>
          </a:xfrm>
          <a:prstGeom prst="roundRect">
            <a:avLst/>
          </a:prstGeom>
          <a:solidFill>
            <a:srgbClr val="E8EFE0"/>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10789920" cy="1051560"/>
          </a:xfrm>
          <a:prstGeom prst="rect">
            <a:avLst/>
          </a:prstGeom>
          <a:noFill/>
        </p:spPr>
        <p:txBody>
          <a:bodyPr wrap="square" anchor="ctr">
            <a:spAutoFit/>
          </a:bodyPr>
          <a:lstStyle/>
          <a:p>
            <a:pPr algn="l">
              <a:spcAft>
                <a:spcPts val="800"/>
              </a:spcAft>
            </a:pPr>
            <a:r>
              <a:rPr sz="1500" b="0">
                <a:solidFill>
                  <a:srgbClr val="222222"/>
                </a:solidFill>
                <a:latin typeface="Calibri"/>
              </a:rPr>
              <a:t>For each task t, pick   </a:t>
            </a:r>
            <a:r>
              <a:rPr sz="1700" b="1">
                <a:solidFill>
                  <a:srgbClr val="1F3A5F"/>
                </a:solidFill>
                <a:latin typeface="Calibri"/>
              </a:rPr>
              <a:t>c* = argmax_c  V(c)</a:t>
            </a:r>
            <a:r>
              <a:rPr sz="1500" b="0">
                <a:solidFill>
                  <a:srgbClr val="222222"/>
                </a:solidFill>
                <a:latin typeface="Calibri"/>
              </a:rPr>
              <a:t>   ; commit if  V(c*) &gt; 0  or  c* serves real demand.</a:t>
            </a:r>
          </a:p>
          <a:p>
            <a:pPr algn="l">
              <a:spcAft>
                <a:spcPts val="800"/>
              </a:spcAft>
            </a:pPr>
            <a:r>
              <a:rPr sz="1700" b="1">
                <a:solidFill>
                  <a:srgbClr val="548235"/>
                </a:solidFill>
                <a:latin typeface="Calibri"/>
              </a:rPr>
              <a:t>V(c) = </a:t>
            </a:r>
            <a:r>
              <a:rPr sz="1600" b="1">
                <a:solidFill>
                  <a:srgbClr val="222222"/>
                </a:solidFill>
                <a:latin typeface="Calibri"/>
              </a:rPr>
              <a:t>𝟙[ act(c) ∧ demand(t) ]</a:t>
            </a:r>
            <a:r>
              <a:rPr sz="1600" b="0">
                <a:solidFill>
                  <a:srgbClr val="222222"/>
                </a:solidFill>
                <a:latin typeface="Calibri"/>
              </a:rPr>
              <a:t>  +  0.01·s(c)  </a:t>
            </a:r>
            <a:r>
              <a:rPr sz="1600" b="1">
                <a:solidFill>
                  <a:srgbClr val="222222"/>
                </a:solidFill>
                <a:latin typeface="Calibri"/>
              </a:rPr>
              <a:t>−  λ·( cost(c) + recur(c) )</a:t>
            </a:r>
          </a:p>
        </p:txBody>
      </p:sp>
      <p:sp>
        <p:nvSpPr>
          <p:cNvPr id="8" name="TextBox 7"/>
          <p:cNvSpPr txBox="1"/>
          <p:nvPr/>
        </p:nvSpPr>
        <p:spPr>
          <a:xfrm>
            <a:off x="548640" y="3017520"/>
            <a:ext cx="5577840" cy="2743200"/>
          </a:xfrm>
          <a:prstGeom prst="rect">
            <a:avLst/>
          </a:prstGeom>
          <a:noFill/>
        </p:spPr>
        <p:txBody>
          <a:bodyPr wrap="square" anchor="t">
            <a:spAutoFit/>
          </a:bodyPr>
          <a:lstStyle/>
          <a:p>
            <a:pPr algn="l">
              <a:spcAft>
                <a:spcPts val="600"/>
              </a:spcAft>
            </a:pPr>
            <a:r>
              <a:rPr sz="1400" b="1">
                <a:solidFill>
                  <a:srgbClr val="1F3A5F"/>
                </a:solidFill>
                <a:latin typeface="Calibri"/>
              </a:rPr>
              <a:t>where</a:t>
            </a:r>
          </a:p>
          <a:p>
            <a:pPr algn="l">
              <a:spcAft>
                <a:spcPts val="600"/>
              </a:spcAft>
            </a:pPr>
            <a:r>
              <a:rPr sz="1300" b="1">
                <a:solidFill>
                  <a:srgbClr val="548235"/>
                </a:solidFill>
                <a:latin typeface="Calibri"/>
              </a:rPr>
              <a:t>act(c)</a:t>
            </a:r>
            <a:r>
              <a:rPr sz="1300" b="0">
                <a:solidFill>
                  <a:srgbClr val="222222"/>
                </a:solidFill>
                <a:latin typeface="Calibri"/>
              </a:rPr>
              <a:t>  = [ cost(c) &gt; 0 ]  ∨  [ s(c) ≥ 10 ]</a:t>
            </a:r>
          </a:p>
          <a:p>
            <a:pPr algn="l">
              <a:spcAft>
                <a:spcPts val="600"/>
              </a:spcAft>
            </a:pPr>
            <a:r>
              <a:rPr sz="1100" b="0">
                <a:solidFill>
                  <a:srgbClr val="595959"/>
                </a:solidFill>
                <a:latin typeface="Calibri"/>
              </a:rPr>
              <a:t>        only reliable choices count; free deferred ⇒ act = 0</a:t>
            </a:r>
          </a:p>
          <a:p>
            <a:pPr algn="l">
              <a:spcAft>
                <a:spcPts val="600"/>
              </a:spcAft>
            </a:pPr>
            <a:r>
              <a:rPr sz="1300" b="1">
                <a:solidFill>
                  <a:srgbClr val="548235"/>
                </a:solidFill>
                <a:latin typeface="Calibri"/>
              </a:rPr>
              <a:t>recur(c)</a:t>
            </a:r>
            <a:r>
              <a:rPr sz="1300" b="0">
                <a:solidFill>
                  <a:srgbClr val="222222"/>
                </a:solidFill>
                <a:latin typeface="Calibri"/>
              </a:rPr>
              <a:t>  = 200 · n · D    if dest(c) = Motel,  else 0</a:t>
            </a:r>
          </a:p>
          <a:p>
            <a:pPr algn="l">
              <a:spcAft>
                <a:spcPts val="600"/>
              </a:spcAft>
            </a:pPr>
            <a:r>
              <a:rPr sz="1100" b="0">
                <a:solidFill>
                  <a:srgbClr val="595959"/>
                </a:solidFill>
                <a:latin typeface="Calibri"/>
              </a:rPr>
              <a:t>        amortizes motel rent over D = days-left ⇒ shelters</a:t>
            </a:r>
          </a:p>
          <a:p>
            <a:pPr algn="l">
              <a:spcAft>
                <a:spcPts val="600"/>
              </a:spcAft>
            </a:pPr>
            <a:r>
              <a:rPr sz="1100" b="0">
                <a:solidFill>
                  <a:srgbClr val="595959"/>
                </a:solidFill>
                <a:latin typeface="Calibri"/>
              </a:rPr>
              <a:t>        dominate the moment the stay is long enough</a:t>
            </a:r>
          </a:p>
          <a:p>
            <a:pPr algn="l">
              <a:spcAft>
                <a:spcPts val="600"/>
              </a:spcAft>
            </a:pPr>
            <a:r>
              <a:rPr sz="1300" b="1">
                <a:solidFill>
                  <a:srgbClr val="548235"/>
                </a:solidFill>
                <a:latin typeface="Calibri"/>
              </a:rPr>
              <a:t>s(c), cost(c)</a:t>
            </a:r>
            <a:r>
              <a:rPr sz="1300" b="0">
                <a:solidFill>
                  <a:srgbClr val="222222"/>
                </a:solidFill>
                <a:latin typeface="Calibri"/>
              </a:rPr>
              <a:t>  = satisfaction impact &amp; upfront $</a:t>
            </a:r>
          </a:p>
          <a:p>
            <a:pPr algn="l">
              <a:spcAft>
                <a:spcPts val="600"/>
              </a:spcAft>
            </a:pPr>
            <a:r>
              <a:rPr sz="1300" b="1">
                <a:solidFill>
                  <a:srgbClr val="548235"/>
                </a:solidFill>
                <a:latin typeface="Calibri"/>
              </a:rPr>
              <a:t>λ</a:t>
            </a:r>
            <a:r>
              <a:rPr sz="1300" b="0">
                <a:solidFill>
                  <a:srgbClr val="222222"/>
                </a:solidFill>
                <a:latin typeface="Calibri"/>
              </a:rPr>
              <a:t>  = the env reward's cost weight (mirrors the objective)</a:t>
            </a:r>
          </a:p>
        </p:txBody>
      </p:sp>
      <p:sp>
        <p:nvSpPr>
          <p:cNvPr id="9" name="Rounded Rectangle 8"/>
          <p:cNvSpPr/>
          <p:nvPr/>
        </p:nvSpPr>
        <p:spPr>
          <a:xfrm>
            <a:off x="6355080" y="3017520"/>
            <a:ext cx="5349240" cy="278892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0528" y="3127248"/>
            <a:ext cx="5120640" cy="2606040"/>
          </a:xfrm>
          <a:prstGeom prst="rect">
            <a:avLst/>
          </a:prstGeom>
          <a:noFill/>
        </p:spPr>
        <p:txBody>
          <a:bodyPr wrap="square">
            <a:spAutoFit/>
          </a:bodyPr>
          <a:lstStyle/>
          <a:p>
            <a:pPr>
              <a:spcAft>
                <a:spcPts val="200"/>
              </a:spcAft>
            </a:pPr>
            <a:r>
              <a:rPr sz="1100">
                <a:solidFill>
                  <a:srgbClr val="8ED08E"/>
                </a:solidFill>
                <a:latin typeface="Consolas"/>
              </a:rPr>
              <a:t>each round R  (budget B, pop P, D days left):</a:t>
            </a:r>
          </a:p>
          <a:p>
            <a:pPr>
              <a:spcAft>
                <a:spcPts val="200"/>
              </a:spcAft>
            </a:pPr>
            <a:r>
              <a:rPr sz="1100">
                <a:solidFill>
                  <a:srgbClr val="8ED08E"/>
                </a:solidFill>
                <a:latin typeface="Consolas"/>
              </a:rPr>
              <a:t>  CHOICES  c* = argmax V(c)  per task; commit</a:t>
            </a:r>
          </a:p>
          <a:p>
            <a:pPr>
              <a:spcAft>
                <a:spcPts val="200"/>
              </a:spcAft>
            </a:pPr>
            <a:r>
              <a:rPr sz="1100">
                <a:solidFill>
                  <a:srgbClr val="8ED08E"/>
                </a:solidFill>
                <a:latin typeface="Consolas"/>
              </a:rPr>
              <a:t>  WANT  =  [Casework if none]</a:t>
            </a:r>
          </a:p>
          <a:p>
            <a:pPr>
              <a:spcAft>
                <a:spcPts val="200"/>
              </a:spcAft>
            </a:pPr>
            <a:r>
              <a:rPr sz="1100">
                <a:solidFill>
                  <a:srgbClr val="FFFFFF"/>
                </a:solidFill>
                <a:latin typeface="Consolas"/>
              </a:rPr>
              <a:t>        ++ [Kitchen]·(2 − #kitchens)   # food first</a:t>
            </a:r>
          </a:p>
          <a:p>
            <a:pPr>
              <a:spcAft>
                <a:spcPts val="200"/>
              </a:spcAft>
            </a:pPr>
            <a:r>
              <a:rPr sz="1100">
                <a:solidFill>
                  <a:srgbClr val="FFFFFF"/>
                </a:solidFill>
                <a:latin typeface="Consolas"/>
              </a:rPr>
              <a:t>        ++ [Shelter]·⌈(P − cap)/10⌉</a:t>
            </a:r>
          </a:p>
          <a:p>
            <a:pPr>
              <a:spcAft>
                <a:spcPts val="200"/>
              </a:spcAft>
            </a:pPr>
            <a:r>
              <a:rPr sz="1100">
                <a:solidFill>
                  <a:srgbClr val="8ED08E"/>
                </a:solidFill>
                <a:latin typeface="Consolas"/>
              </a:rPr>
              <a:t>  STAFFABLE   |builds| ≤ (workers + 5D) / 4</a:t>
            </a:r>
          </a:p>
          <a:p>
            <a:pPr>
              <a:spcAft>
                <a:spcPts val="200"/>
              </a:spcAft>
            </a:pPr>
            <a:r>
              <a:rPr sz="1100">
                <a:solidFill>
                  <a:srgbClr val="8ED08E"/>
                </a:solidFill>
                <a:latin typeface="Consolas"/>
              </a:rPr>
              <a:t>  PACE        ≤ 3 builds / round</a:t>
            </a:r>
          </a:p>
          <a:p>
            <a:pPr>
              <a:spcAft>
                <a:spcPts val="200"/>
              </a:spcAft>
            </a:pPr>
            <a:r>
              <a:rPr sz="1100">
                <a:solidFill>
                  <a:srgbClr val="8ED08E"/>
                </a:solidFill>
                <a:latin typeface="Consolas"/>
              </a:rPr>
              <a:t>  RESERVE     build b  while cost(b) ≤ B − $3000</a:t>
            </a:r>
          </a:p>
          <a:p>
            <a:pPr>
              <a:spcAft>
                <a:spcPts val="200"/>
              </a:spcAft>
            </a:pPr>
            <a:r>
              <a:rPr sz="1100">
                <a:solidFill>
                  <a:srgbClr val="8ED08E"/>
                </a:solidFill>
                <a:latin typeface="Consolas"/>
              </a:rPr>
              <a:t>  HIRE  untrained to close</a:t>
            </a:r>
          </a:p>
          <a:p>
            <a:pPr>
              <a:spcAft>
                <a:spcPts val="200"/>
              </a:spcAft>
            </a:pPr>
            <a:r>
              <a:rPr sz="1100">
                <a:solidFill>
                  <a:srgbClr val="FFFFFF"/>
                </a:solidFill>
                <a:latin typeface="Consolas"/>
              </a:rPr>
              <a:t>        gap = Σ needWorkers + 4·newBuilds − free</a:t>
            </a:r>
          </a:p>
        </p:txBody>
      </p:sp>
      <p:sp>
        <p:nvSpPr>
          <p:cNvPr id="11" name="TextBox 10"/>
          <p:cNvSpPr txBox="1"/>
          <p:nvPr/>
        </p:nvSpPr>
        <p:spPr>
          <a:xfrm>
            <a:off x="502920" y="5943600"/>
            <a:ext cx="11201400" cy="640080"/>
          </a:xfrm>
          <a:prstGeom prst="rect">
            <a:avLst/>
          </a:prstGeom>
          <a:noFill/>
        </p:spPr>
        <p:txBody>
          <a:bodyPr wrap="square" anchor="t">
            <a:spAutoFit/>
          </a:bodyPr>
          <a:lstStyle/>
          <a:p>
            <a:pPr algn="l"/>
            <a:r>
              <a:rPr sz="1300" b="1">
                <a:solidFill>
                  <a:srgbClr val="548235"/>
                </a:solidFill>
                <a:latin typeface="Calibri"/>
              </a:rPr>
              <a:t>Intuition:  </a:t>
            </a:r>
            <a:r>
              <a:rPr sz="1300" b="0">
                <a:solidFill>
                  <a:srgbClr val="222222"/>
                </a:solidFill>
                <a:latin typeface="Calibri"/>
              </a:rPr>
              <a:t>spend only on supply that is guaranteed to arrive, build one step ahead of demand, and never queue more capacity than the workforce can staff or the income stream can fund.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How the models reason: convergent openings, divergent food strategy</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15568"/>
            <a:ext cx="11338560" cy="502920"/>
          </a:xfrm>
          <a:prstGeom prst="rect">
            <a:avLst/>
          </a:prstGeom>
          <a:noFill/>
        </p:spPr>
        <p:txBody>
          <a:bodyPr wrap="square" anchor="t">
            <a:spAutoFit/>
          </a:bodyPr>
          <a:lstStyle/>
          <a:p>
            <a:pPr algn="l"/>
            <a:r>
              <a:rPr sz="1250" b="0">
                <a:solidFill>
                  <a:srgbClr val="595959"/>
                </a:solidFill>
                <a:latin typeface="Calibri"/>
              </a:rPr>
              <a:t>All six open </a:t>
            </a:r>
            <a:r>
              <a:rPr sz="1250" b="1">
                <a:solidFill>
                  <a:srgbClr val="222222"/>
                </a:solidFill>
                <a:latin typeface="Calibri"/>
              </a:rPr>
              <a:t>identically</a:t>
            </a:r>
            <a:r>
              <a:rPr sz="1250" b="0">
                <a:solidFill>
                  <a:srgbClr val="595959"/>
                </a:solidFill>
                <a:latin typeface="Calibri"/>
              </a:rPr>
              <a:t> — staff the prebuilt kitchen / shelter / casework site, then build a 2nd kitchen + shelter. They diverge on </a:t>
            </a:r>
            <a:r>
              <a:rPr sz="1250" b="1">
                <a:solidFill>
                  <a:srgbClr val="1F3A5F"/>
                </a:solidFill>
                <a:latin typeface="Calibri"/>
              </a:rPr>
              <a:t>one decision: how to actually get food delivered</a:t>
            </a:r>
            <a:r>
              <a:rPr sz="1250" b="0">
                <a:solidFill>
                  <a:srgbClr val="595959"/>
                </a:solidFill>
                <a:latin typeface="Calibri"/>
              </a:rPr>
              <a:t> (verbatim traces, K=1 · auto).</a:t>
            </a:r>
          </a:p>
        </p:txBody>
      </p:sp>
      <p:sp>
        <p:nvSpPr>
          <p:cNvPr id="6" name="Rounded Rectangle 5"/>
          <p:cNvSpPr/>
          <p:nvPr/>
        </p:nvSpPr>
        <p:spPr>
          <a:xfrm>
            <a:off x="457200" y="1700784"/>
            <a:ext cx="3657600" cy="2121408"/>
          </a:xfrm>
          <a:prstGeom prst="roundRect">
            <a:avLst/>
          </a:prstGeom>
          <a:solidFill>
            <a:srgbClr val="FFFFFF"/>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700784"/>
            <a:ext cx="3657600" cy="420624"/>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00784"/>
            <a:ext cx="2103120" cy="420624"/>
          </a:xfrm>
          <a:prstGeom prst="rect">
            <a:avLst/>
          </a:prstGeom>
          <a:noFill/>
        </p:spPr>
        <p:txBody>
          <a:bodyPr wrap="square" anchor="ctr">
            <a:spAutoFit/>
          </a:bodyPr>
          <a:lstStyle/>
          <a:p>
            <a:pPr algn="l"/>
            <a:r>
              <a:rPr sz="1250" b="1">
                <a:solidFill>
                  <a:srgbClr val="FFFFFF"/>
                </a:solidFill>
                <a:latin typeface="Calibri"/>
              </a:rPr>
              <a:t>gemini-2.5-pro</a:t>
            </a:r>
          </a:p>
        </p:txBody>
      </p:sp>
      <p:sp>
        <p:nvSpPr>
          <p:cNvPr id="9" name="TextBox 8"/>
          <p:cNvSpPr txBox="1"/>
          <p:nvPr/>
        </p:nvSpPr>
        <p:spPr>
          <a:xfrm>
            <a:off x="2633472" y="1700784"/>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2.18</a:t>
            </a:r>
          </a:p>
          <a:p>
            <a:pPr algn="r">
              <a:spcAft>
                <a:spcPts val="0"/>
              </a:spcAft>
            </a:pPr>
            <a:r>
              <a:rPr sz="950" b="1">
                <a:solidFill>
                  <a:srgbClr val="FFFFFF"/>
                </a:solidFill>
                <a:latin typeface="Calibri"/>
              </a:rPr>
              <a:t>food 0.48</a:t>
            </a:r>
          </a:p>
        </p:txBody>
      </p:sp>
      <p:sp>
        <p:nvSpPr>
          <p:cNvPr id="10" name="TextBox 9"/>
          <p:cNvSpPr txBox="1"/>
          <p:nvPr/>
        </p:nvSpPr>
        <p:spPr>
          <a:xfrm>
            <a:off x="585216" y="2194560"/>
            <a:ext cx="3401568" cy="502920"/>
          </a:xfrm>
          <a:prstGeom prst="rect">
            <a:avLst/>
          </a:prstGeom>
          <a:noFill/>
        </p:spPr>
        <p:txBody>
          <a:bodyPr wrap="square" anchor="t">
            <a:spAutoFit/>
          </a:bodyPr>
          <a:lstStyle/>
          <a:p>
            <a:pPr algn="l"/>
            <a:r>
              <a:rPr sz="1200" b="1">
                <a:solidFill>
                  <a:srgbClr val="548235"/>
                </a:solidFill>
                <a:latin typeface="Calibri"/>
              </a:rPr>
              <a:t>Treats food as a crisis — scales production</a:t>
            </a:r>
          </a:p>
        </p:txBody>
      </p:sp>
      <p:sp>
        <p:nvSpPr>
          <p:cNvPr id="11" name="TextBox 10"/>
          <p:cNvSpPr txBox="1"/>
          <p:nvPr/>
        </p:nvSpPr>
        <p:spPr>
          <a:xfrm>
            <a:off x="585216" y="2724912"/>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“Food is the immediate crisis… only one producing kitchen. I will staff the newly built Kitchen_11 to double food production.”</a:t>
            </a:r>
          </a:p>
        </p:txBody>
      </p:sp>
      <p:sp>
        <p:nvSpPr>
          <p:cNvPr id="12" name="Rounded Rectangle 11"/>
          <p:cNvSpPr/>
          <p:nvPr/>
        </p:nvSpPr>
        <p:spPr>
          <a:xfrm>
            <a:off x="4279392" y="1700784"/>
            <a:ext cx="3657600" cy="2121408"/>
          </a:xfrm>
          <a:prstGeom prst="roundRect">
            <a:avLst/>
          </a:prstGeom>
          <a:solidFill>
            <a:srgbClr val="FFFFFF"/>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700784"/>
            <a:ext cx="3657600"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700784"/>
            <a:ext cx="2103120" cy="420624"/>
          </a:xfrm>
          <a:prstGeom prst="rect">
            <a:avLst/>
          </a:prstGeom>
          <a:noFill/>
        </p:spPr>
        <p:txBody>
          <a:bodyPr wrap="square" anchor="ctr">
            <a:spAutoFit/>
          </a:bodyPr>
          <a:lstStyle/>
          <a:p>
            <a:pPr algn="l"/>
            <a:r>
              <a:rPr sz="1250" b="1">
                <a:solidFill>
                  <a:srgbClr val="FFFFFF"/>
                </a:solidFill>
                <a:latin typeface="Calibri"/>
              </a:rPr>
              <a:t>claude-sonnet-4.6</a:t>
            </a:r>
          </a:p>
        </p:txBody>
      </p:sp>
      <p:sp>
        <p:nvSpPr>
          <p:cNvPr id="15" name="TextBox 14"/>
          <p:cNvSpPr txBox="1"/>
          <p:nvPr/>
        </p:nvSpPr>
        <p:spPr>
          <a:xfrm>
            <a:off x="6455664" y="1700784"/>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1.80</a:t>
            </a:r>
          </a:p>
          <a:p>
            <a:pPr algn="r">
              <a:spcAft>
                <a:spcPts val="0"/>
              </a:spcAft>
            </a:pPr>
            <a:r>
              <a:rPr sz="950" b="1">
                <a:solidFill>
                  <a:srgbClr val="FFFFFF"/>
                </a:solidFill>
                <a:latin typeface="Calibri"/>
              </a:rPr>
              <a:t>food 0.27</a:t>
            </a:r>
          </a:p>
        </p:txBody>
      </p:sp>
      <p:sp>
        <p:nvSpPr>
          <p:cNvPr id="16" name="TextBox 15"/>
          <p:cNvSpPr txBox="1"/>
          <p:nvPr/>
        </p:nvSpPr>
        <p:spPr>
          <a:xfrm>
            <a:off x="4407407" y="2194560"/>
            <a:ext cx="3401568" cy="502920"/>
          </a:xfrm>
          <a:prstGeom prst="rect">
            <a:avLst/>
          </a:prstGeom>
          <a:noFill/>
        </p:spPr>
        <p:txBody>
          <a:bodyPr wrap="square" anchor="t">
            <a:spAutoFit/>
          </a:bodyPr>
          <a:lstStyle/>
          <a:p>
            <a:pPr algn="l"/>
            <a:r>
              <a:rPr sz="1200" b="1">
                <a:solidFill>
                  <a:srgbClr val="2E75B6"/>
                </a:solidFill>
                <a:latin typeface="Calibri"/>
              </a:rPr>
              <a:t>Diagnoses the constraint, then hesitates</a:t>
            </a:r>
          </a:p>
        </p:txBody>
      </p:sp>
      <p:sp>
        <p:nvSpPr>
          <p:cNvPr id="17" name="TextBox 16"/>
          <p:cNvSpPr txBox="1"/>
          <p:nvPr/>
        </p:nvSpPr>
        <p:spPr>
          <a:xfrm>
            <a:off x="4407407" y="2724912"/>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“…food in kitchens but no vehicles free to transfer… ‘Request 10 packs’ is quicker without immediate cost — let's use that.”  (free path, often fails)</a:t>
            </a:r>
          </a:p>
        </p:txBody>
      </p:sp>
      <p:sp>
        <p:nvSpPr>
          <p:cNvPr id="18" name="Rounded Rectangle 17"/>
          <p:cNvSpPr/>
          <p:nvPr/>
        </p:nvSpPr>
        <p:spPr>
          <a:xfrm>
            <a:off x="8101583" y="1700784"/>
            <a:ext cx="3657600" cy="2121408"/>
          </a:xfrm>
          <a:prstGeom prst="roundRect">
            <a:avLst/>
          </a:prstGeom>
          <a:solidFill>
            <a:srgbClr val="FFFFFF"/>
          </a:solidFill>
          <a:ln w="1905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01583" y="1700784"/>
            <a:ext cx="3657600" cy="42062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700784"/>
            <a:ext cx="2103120" cy="420624"/>
          </a:xfrm>
          <a:prstGeom prst="rect">
            <a:avLst/>
          </a:prstGeom>
          <a:noFill/>
        </p:spPr>
        <p:txBody>
          <a:bodyPr wrap="square" anchor="ctr">
            <a:spAutoFit/>
          </a:bodyPr>
          <a:lstStyle/>
          <a:p>
            <a:pPr algn="l"/>
            <a:r>
              <a:rPr sz="1250" b="1">
                <a:solidFill>
                  <a:srgbClr val="FFFFFF"/>
                </a:solidFill>
                <a:latin typeface="Calibri"/>
              </a:rPr>
              <a:t>gpt-5.5</a:t>
            </a:r>
          </a:p>
        </p:txBody>
      </p:sp>
      <p:sp>
        <p:nvSpPr>
          <p:cNvPr id="21" name="TextBox 20"/>
          <p:cNvSpPr txBox="1"/>
          <p:nvPr/>
        </p:nvSpPr>
        <p:spPr>
          <a:xfrm>
            <a:off x="10277855" y="1700784"/>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1.77</a:t>
            </a:r>
          </a:p>
          <a:p>
            <a:pPr algn="r">
              <a:spcAft>
                <a:spcPts val="0"/>
              </a:spcAft>
            </a:pPr>
            <a:r>
              <a:rPr sz="950" b="1">
                <a:solidFill>
                  <a:srgbClr val="FFFFFF"/>
                </a:solidFill>
                <a:latin typeface="Calibri"/>
              </a:rPr>
              <a:t>food 0.00</a:t>
            </a:r>
          </a:p>
        </p:txBody>
      </p:sp>
      <p:sp>
        <p:nvSpPr>
          <p:cNvPr id="22" name="TextBox 21"/>
          <p:cNvSpPr txBox="1"/>
          <p:nvPr/>
        </p:nvSpPr>
        <p:spPr>
          <a:xfrm>
            <a:off x="8229600" y="2194560"/>
            <a:ext cx="3401568" cy="502920"/>
          </a:xfrm>
          <a:prstGeom prst="rect">
            <a:avLst/>
          </a:prstGeom>
          <a:noFill/>
        </p:spPr>
        <p:txBody>
          <a:bodyPr wrap="square" anchor="t">
            <a:spAutoFit/>
          </a:bodyPr>
          <a:lstStyle/>
          <a:p>
            <a:pPr algn="l"/>
            <a:r>
              <a:rPr sz="1200" b="1">
                <a:solidFill>
                  <a:srgbClr val="C03A2B"/>
                </a:solidFill>
                <a:latin typeface="Calibri"/>
              </a:rPr>
              <a:t>Builds relentlessly, hoards cash, never ships food</a:t>
            </a:r>
          </a:p>
        </p:txBody>
      </p:sp>
      <p:sp>
        <p:nvSpPr>
          <p:cNvPr id="23" name="TextBox 22"/>
          <p:cNvSpPr txBox="1"/>
          <p:nvPr/>
        </p:nvSpPr>
        <p:spPr>
          <a:xfrm>
            <a:off x="8229600" y="2724912"/>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“Expand low-cost food and shelter capacity early.” → builds 5 shelters, ends +$40k unspent; “use existing kitchen stock” → 0 delivered.</a:t>
            </a:r>
          </a:p>
        </p:txBody>
      </p:sp>
      <p:sp>
        <p:nvSpPr>
          <p:cNvPr id="24" name="Rounded Rectangle 23"/>
          <p:cNvSpPr/>
          <p:nvPr/>
        </p:nvSpPr>
        <p:spPr>
          <a:xfrm>
            <a:off x="457200" y="3931920"/>
            <a:ext cx="3657600" cy="2121408"/>
          </a:xfrm>
          <a:prstGeom prst="roundRect">
            <a:avLst/>
          </a:prstGeom>
          <a:solidFill>
            <a:srgbClr val="FFFFFF"/>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931920"/>
            <a:ext cx="3657600" cy="42062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931920"/>
            <a:ext cx="2103120" cy="420624"/>
          </a:xfrm>
          <a:prstGeom prst="rect">
            <a:avLst/>
          </a:prstGeom>
          <a:noFill/>
        </p:spPr>
        <p:txBody>
          <a:bodyPr wrap="square" anchor="ctr">
            <a:spAutoFit/>
          </a:bodyPr>
          <a:lstStyle/>
          <a:p>
            <a:pPr algn="l"/>
            <a:r>
              <a:rPr sz="1250" b="1">
                <a:solidFill>
                  <a:srgbClr val="FFFFFF"/>
                </a:solidFill>
                <a:latin typeface="Calibri"/>
              </a:rPr>
              <a:t>gpt-5-mini</a:t>
            </a:r>
          </a:p>
        </p:txBody>
      </p:sp>
      <p:sp>
        <p:nvSpPr>
          <p:cNvPr id="27" name="TextBox 26"/>
          <p:cNvSpPr txBox="1"/>
          <p:nvPr/>
        </p:nvSpPr>
        <p:spPr>
          <a:xfrm>
            <a:off x="2633472" y="3931920"/>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1.70</a:t>
            </a:r>
          </a:p>
          <a:p>
            <a:pPr algn="r">
              <a:spcAft>
                <a:spcPts val="0"/>
              </a:spcAft>
            </a:pPr>
            <a:r>
              <a:rPr sz="950" b="1">
                <a:solidFill>
                  <a:srgbClr val="FFFFFF"/>
                </a:solidFill>
                <a:latin typeface="Calibri"/>
              </a:rPr>
              <a:t>food 0.19</a:t>
            </a:r>
          </a:p>
        </p:txBody>
      </p:sp>
      <p:sp>
        <p:nvSpPr>
          <p:cNvPr id="28" name="TextBox 27"/>
          <p:cNvSpPr txBox="1"/>
          <p:nvPr/>
        </p:nvSpPr>
        <p:spPr>
          <a:xfrm>
            <a:off x="585216" y="4425696"/>
            <a:ext cx="3401568" cy="502920"/>
          </a:xfrm>
          <a:prstGeom prst="rect">
            <a:avLst/>
          </a:prstGeom>
          <a:noFill/>
        </p:spPr>
        <p:txBody>
          <a:bodyPr wrap="square" anchor="t">
            <a:spAutoFit/>
          </a:bodyPr>
          <a:lstStyle/>
          <a:p>
            <a:pPr algn="l"/>
            <a:r>
              <a:rPr sz="1200" b="1">
                <a:solidFill>
                  <a:srgbClr val="2E75B6"/>
                </a:solidFill>
                <a:latin typeface="Calibri"/>
              </a:rPr>
              <a:t>Cost-first; only airlifts late</a:t>
            </a:r>
          </a:p>
        </p:txBody>
      </p:sp>
      <p:sp>
        <p:nvSpPr>
          <p:cNvPr id="29" name="TextBox 28"/>
          <p:cNvSpPr txBox="1"/>
          <p:nvPr/>
        </p:nvSpPr>
        <p:spPr>
          <a:xfrm>
            <a:off x="585216" y="4956048"/>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“Avoid expensive helicopter… fulfill with the larger kitchen delivery (no extra budget hit).” → by r24 finally: “airlift 10 food packs.”</a:t>
            </a:r>
          </a:p>
        </p:txBody>
      </p:sp>
      <p:sp>
        <p:nvSpPr>
          <p:cNvPr id="30" name="Rounded Rectangle 29"/>
          <p:cNvSpPr/>
          <p:nvPr/>
        </p:nvSpPr>
        <p:spPr>
          <a:xfrm>
            <a:off x="4279392" y="3931920"/>
            <a:ext cx="3657600" cy="2121408"/>
          </a:xfrm>
          <a:prstGeom prst="roundRect">
            <a:avLst/>
          </a:prstGeom>
          <a:solidFill>
            <a:srgbClr val="FFFFFF"/>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9392" y="3931920"/>
            <a:ext cx="3657600" cy="420624"/>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0" y="3931920"/>
            <a:ext cx="2103120" cy="420624"/>
          </a:xfrm>
          <a:prstGeom prst="rect">
            <a:avLst/>
          </a:prstGeom>
          <a:noFill/>
        </p:spPr>
        <p:txBody>
          <a:bodyPr wrap="square" anchor="ctr">
            <a:spAutoFit/>
          </a:bodyPr>
          <a:lstStyle/>
          <a:p>
            <a:pPr algn="l"/>
            <a:r>
              <a:rPr sz="1250" b="1">
                <a:solidFill>
                  <a:srgbClr val="FFFFFF"/>
                </a:solidFill>
                <a:latin typeface="Calibri"/>
              </a:rPr>
              <a:t>claude-haiku-4.5</a:t>
            </a:r>
          </a:p>
        </p:txBody>
      </p:sp>
      <p:sp>
        <p:nvSpPr>
          <p:cNvPr id="33" name="TextBox 32"/>
          <p:cNvSpPr txBox="1"/>
          <p:nvPr/>
        </p:nvSpPr>
        <p:spPr>
          <a:xfrm>
            <a:off x="6455664" y="3931920"/>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1.59</a:t>
            </a:r>
          </a:p>
          <a:p>
            <a:pPr algn="r">
              <a:spcAft>
                <a:spcPts val="0"/>
              </a:spcAft>
            </a:pPr>
            <a:r>
              <a:rPr sz="950" b="1">
                <a:solidFill>
                  <a:srgbClr val="FFFFFF"/>
                </a:solidFill>
                <a:latin typeface="Calibri"/>
              </a:rPr>
              <a:t>food 0.12</a:t>
            </a:r>
          </a:p>
        </p:txBody>
      </p:sp>
      <p:sp>
        <p:nvSpPr>
          <p:cNvPr id="34" name="TextBox 33"/>
          <p:cNvSpPr txBox="1"/>
          <p:nvPr/>
        </p:nvSpPr>
        <p:spPr>
          <a:xfrm>
            <a:off x="4407407" y="4425696"/>
            <a:ext cx="3401568" cy="502920"/>
          </a:xfrm>
          <a:prstGeom prst="rect">
            <a:avLst/>
          </a:prstGeom>
          <a:noFill/>
        </p:spPr>
        <p:txBody>
          <a:bodyPr wrap="square" anchor="t">
            <a:spAutoFit/>
          </a:bodyPr>
          <a:lstStyle/>
          <a:p>
            <a:pPr algn="l"/>
            <a:r>
              <a:rPr sz="1200" b="1">
                <a:solidFill>
                  <a:srgbClr val="C55A11"/>
                </a:solidFill>
                <a:latin typeface="Calibri"/>
              </a:rPr>
              <a:t>Meticulous bookkeeping, spends into insolvency</a:t>
            </a:r>
          </a:p>
        </p:txBody>
      </p:sp>
      <p:sp>
        <p:nvSpPr>
          <p:cNvPr id="35" name="TextBox 34"/>
          <p:cNvSpPr txBox="1"/>
          <p:nvPr/>
        </p:nvSpPr>
        <p:spPr>
          <a:xfrm>
            <a:off x="4407407" y="4956048"/>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“Motel is extremely expensive… For food I'll request 10 packs (quicker, cheaper).” → budget craters to –$16k, food still never delivered.</a:t>
            </a:r>
          </a:p>
        </p:txBody>
      </p:sp>
      <p:sp>
        <p:nvSpPr>
          <p:cNvPr id="36" name="Rounded Rectangle 35"/>
          <p:cNvSpPr/>
          <p:nvPr/>
        </p:nvSpPr>
        <p:spPr>
          <a:xfrm>
            <a:off x="8101583" y="3931920"/>
            <a:ext cx="3657600" cy="2121408"/>
          </a:xfrm>
          <a:prstGeom prst="roundRect">
            <a:avLst/>
          </a:prstGeom>
          <a:solidFill>
            <a:srgbClr val="FFFFFF"/>
          </a:solidFill>
          <a:ln w="1905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1583" y="3931920"/>
            <a:ext cx="3657600" cy="42062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11311" y="3931920"/>
            <a:ext cx="2103120" cy="420624"/>
          </a:xfrm>
          <a:prstGeom prst="rect">
            <a:avLst/>
          </a:prstGeom>
          <a:noFill/>
        </p:spPr>
        <p:txBody>
          <a:bodyPr wrap="square" anchor="ctr">
            <a:spAutoFit/>
          </a:bodyPr>
          <a:lstStyle/>
          <a:p>
            <a:pPr algn="l"/>
            <a:r>
              <a:rPr sz="1250" b="1">
                <a:solidFill>
                  <a:srgbClr val="FFFFFF"/>
                </a:solidFill>
                <a:latin typeface="Calibri"/>
              </a:rPr>
              <a:t>claude-opus-4.8</a:t>
            </a:r>
          </a:p>
        </p:txBody>
      </p:sp>
      <p:sp>
        <p:nvSpPr>
          <p:cNvPr id="39" name="TextBox 38"/>
          <p:cNvSpPr txBox="1"/>
          <p:nvPr/>
        </p:nvSpPr>
        <p:spPr>
          <a:xfrm>
            <a:off x="10277855" y="3931920"/>
            <a:ext cx="1371600" cy="420624"/>
          </a:xfrm>
          <a:prstGeom prst="rect">
            <a:avLst/>
          </a:prstGeom>
          <a:noFill/>
        </p:spPr>
        <p:txBody>
          <a:bodyPr wrap="square" anchor="ctr">
            <a:spAutoFit/>
          </a:bodyPr>
          <a:lstStyle/>
          <a:p>
            <a:pPr algn="r">
              <a:spcAft>
                <a:spcPts val="0"/>
              </a:spcAft>
            </a:pPr>
            <a:r>
              <a:rPr sz="950" b="1">
                <a:solidFill>
                  <a:srgbClr val="FFFFFF"/>
                </a:solidFill>
                <a:latin typeface="Calibri"/>
              </a:rPr>
              <a:t>score 1.49</a:t>
            </a:r>
          </a:p>
          <a:p>
            <a:pPr algn="r">
              <a:spcAft>
                <a:spcPts val="0"/>
              </a:spcAft>
            </a:pPr>
            <a:r>
              <a:rPr sz="950" b="1">
                <a:solidFill>
                  <a:srgbClr val="FFFFFF"/>
                </a:solidFill>
                <a:latin typeface="Calibri"/>
              </a:rPr>
              <a:t>food 0.00</a:t>
            </a:r>
          </a:p>
        </p:txBody>
      </p:sp>
      <p:sp>
        <p:nvSpPr>
          <p:cNvPr id="40" name="TextBox 39"/>
          <p:cNvSpPr txBox="1"/>
          <p:nvPr/>
        </p:nvSpPr>
        <p:spPr>
          <a:xfrm>
            <a:off x="8229600" y="4425696"/>
            <a:ext cx="3401568" cy="502920"/>
          </a:xfrm>
          <a:prstGeom prst="rect">
            <a:avLst/>
          </a:prstGeom>
          <a:noFill/>
        </p:spPr>
        <p:txBody>
          <a:bodyPr wrap="square" anchor="t">
            <a:spAutoFit/>
          </a:bodyPr>
          <a:lstStyle/>
          <a:p>
            <a:pPr algn="l"/>
            <a:r>
              <a:rPr sz="1200" b="1">
                <a:solidFill>
                  <a:srgbClr val="C03A2B"/>
                </a:solidFill>
                <a:latin typeface="Calibri"/>
              </a:rPr>
              <a:t>Cost-minimizer — rejects paid delivery, then idles</a:t>
            </a:r>
          </a:p>
        </p:txBody>
      </p:sp>
      <p:sp>
        <p:nvSpPr>
          <p:cNvPr id="41" name="TextBox 40"/>
          <p:cNvSpPr txBox="1"/>
          <p:nvPr/>
        </p:nvSpPr>
        <p:spPr>
          <a:xfrm>
            <a:off x="8229600" y="4956048"/>
            <a:ext cx="3401568" cy="1042415"/>
          </a:xfrm>
          <a:prstGeom prst="rect">
            <a:avLst/>
          </a:prstGeom>
          <a:noFill/>
        </p:spPr>
        <p:txBody>
          <a:bodyPr wrap="square" anchor="t">
            <a:spAutoFit/>
          </a:bodyPr>
          <a:lstStyle/>
          <a:p>
            <a:pPr algn="l">
              <a:spcAft>
                <a:spcPts val="200"/>
              </a:spcAft>
            </a:pPr>
            <a:r>
              <a:rPr sz="1050" b="0">
                <a:solidFill>
                  <a:srgbClr val="222222"/>
                </a:solidFill>
                <a:latin typeface="Calibri"/>
              </a:rPr>
              <a:t>“Serve via kitchens… without helicopter waste.” → r24: “satisfaction is maxed… conserve budget rather than overspend.”  food = 0 every round.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247120" cy="777240"/>
          </a:xfrm>
          <a:prstGeom prst="rect">
            <a:avLst/>
          </a:prstGeom>
          <a:noFill/>
        </p:spPr>
        <p:txBody>
          <a:bodyPr wrap="square" anchor="ctr">
            <a:spAutoFit/>
          </a:bodyPr>
          <a:lstStyle/>
          <a:p>
            <a:pPr algn="l"/>
            <a:r>
              <a:rPr sz="3000" b="1">
                <a:solidFill>
                  <a:srgbClr val="FFFFFF"/>
                </a:solidFill>
                <a:latin typeface="Calibri"/>
              </a:rPr>
              <a:t>Two standouts: the food-delivery decision is the whole game</a:t>
            </a:r>
          </a:p>
        </p:txBody>
      </p:sp>
      <p:sp>
        <p:nvSpPr>
          <p:cNvPr id="4" name="Rectangle 3"/>
          <p:cNvSpPr/>
          <p:nvPr/>
        </p:nvSpPr>
        <p:spPr>
          <a:xfrm>
            <a:off x="0" y="105156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115568"/>
            <a:ext cx="11338560" cy="365760"/>
          </a:xfrm>
          <a:prstGeom prst="rect">
            <a:avLst/>
          </a:prstGeom>
          <a:noFill/>
        </p:spPr>
        <p:txBody>
          <a:bodyPr wrap="square" anchor="t">
            <a:spAutoFit/>
          </a:bodyPr>
          <a:lstStyle/>
          <a:p>
            <a:pPr algn="l"/>
            <a:r>
              <a:rPr sz="1250" b="1">
                <a:solidFill>
                  <a:srgbClr val="595959"/>
                </a:solidFill>
                <a:latin typeface="Calibri"/>
              </a:rPr>
              <a:t>Same reward, same opening. One fork — pay for guaranteed delivery vs. trust the free queue — splits the field.</a:t>
            </a:r>
          </a:p>
        </p:txBody>
      </p:sp>
      <p:sp>
        <p:nvSpPr>
          <p:cNvPr id="6" name="Rounded Rectangle 5"/>
          <p:cNvSpPr/>
          <p:nvPr/>
        </p:nvSpPr>
        <p:spPr>
          <a:xfrm>
            <a:off x="457200" y="1627632"/>
            <a:ext cx="5486400" cy="4160520"/>
          </a:xfrm>
          <a:prstGeom prst="roundRect">
            <a:avLst/>
          </a:prstGeom>
          <a:solidFill>
            <a:srgbClr val="FFFFFF"/>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27632"/>
            <a:ext cx="5486400" cy="86868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64208"/>
            <a:ext cx="5120640" cy="457200"/>
          </a:xfrm>
          <a:prstGeom prst="rect">
            <a:avLst/>
          </a:prstGeom>
          <a:noFill/>
        </p:spPr>
        <p:txBody>
          <a:bodyPr wrap="square" anchor="ctr">
            <a:spAutoFit/>
          </a:bodyPr>
          <a:lstStyle/>
          <a:p>
            <a:pPr algn="l"/>
            <a:r>
              <a:rPr sz="1900" b="1">
                <a:solidFill>
                  <a:srgbClr val="FFFFFF"/>
                </a:solidFill>
                <a:latin typeface="Calibri"/>
              </a:rPr>
              <a:t>gemini-2.5-pro</a:t>
            </a:r>
          </a:p>
        </p:txBody>
      </p:sp>
      <p:sp>
        <p:nvSpPr>
          <p:cNvPr id="9" name="TextBox 8"/>
          <p:cNvSpPr txBox="1"/>
          <p:nvPr/>
        </p:nvSpPr>
        <p:spPr>
          <a:xfrm>
            <a:off x="658368" y="2103120"/>
            <a:ext cx="5120640" cy="365760"/>
          </a:xfrm>
          <a:prstGeom prst="rect">
            <a:avLst/>
          </a:prstGeom>
          <a:noFill/>
        </p:spPr>
        <p:txBody>
          <a:bodyPr wrap="square" anchor="t">
            <a:spAutoFit/>
          </a:bodyPr>
          <a:lstStyle/>
          <a:p>
            <a:pPr algn="l"/>
            <a:r>
              <a:rPr sz="1300" b="1">
                <a:solidFill>
                  <a:srgbClr val="FFFFFF"/>
                </a:solidFill>
                <a:latin typeface="Calibri"/>
              </a:rPr>
              <a:t>the adaptive winner</a:t>
            </a:r>
          </a:p>
        </p:txBody>
      </p:sp>
      <p:sp>
        <p:nvSpPr>
          <p:cNvPr id="10" name="TextBox 9"/>
          <p:cNvSpPr txBox="1"/>
          <p:nvPr/>
        </p:nvSpPr>
        <p:spPr>
          <a:xfrm>
            <a:off x="658368" y="2606040"/>
            <a:ext cx="5120640" cy="411480"/>
          </a:xfrm>
          <a:prstGeom prst="rect">
            <a:avLst/>
          </a:prstGeom>
          <a:noFill/>
        </p:spPr>
        <p:txBody>
          <a:bodyPr wrap="square" anchor="t">
            <a:spAutoFit/>
          </a:bodyPr>
          <a:lstStyle/>
          <a:p>
            <a:pPr algn="l"/>
            <a:r>
              <a:rPr sz="1300" b="1">
                <a:solidFill>
                  <a:srgbClr val="548235"/>
                </a:solidFill>
                <a:latin typeface="Calibri"/>
              </a:rPr>
              <a:t>score 2.18</a:t>
            </a:r>
            <a:r>
              <a:rPr sz="1300" b="0">
                <a:solidFill>
                  <a:srgbClr val="595959"/>
                </a:solidFill>
                <a:latin typeface="Calibri"/>
              </a:rPr>
              <a:t>   ·   </a:t>
            </a:r>
            <a:r>
              <a:rPr sz="1300" b="1">
                <a:solidFill>
                  <a:srgbClr val="548235"/>
                </a:solidFill>
                <a:latin typeface="Calibri"/>
              </a:rPr>
              <a:t>food 0.48</a:t>
            </a:r>
          </a:p>
        </p:txBody>
      </p:sp>
      <p:sp>
        <p:nvSpPr>
          <p:cNvPr id="11" name="TextBox 10"/>
          <p:cNvSpPr txBox="1"/>
          <p:nvPr/>
        </p:nvSpPr>
        <p:spPr>
          <a:xfrm>
            <a:off x="658368" y="3017520"/>
            <a:ext cx="5120640" cy="365760"/>
          </a:xfrm>
          <a:prstGeom prst="rect">
            <a:avLst/>
          </a:prstGeom>
          <a:noFill/>
        </p:spPr>
        <p:txBody>
          <a:bodyPr wrap="square" anchor="t">
            <a:spAutoFit/>
          </a:bodyPr>
          <a:lstStyle/>
          <a:p>
            <a:pPr algn="l"/>
            <a:r>
              <a:rPr sz="1150" b="1">
                <a:solidFill>
                  <a:srgbClr val="222222"/>
                </a:solidFill>
                <a:latin typeface="Calibri"/>
              </a:rPr>
              <a:t>food delivered / round:  </a:t>
            </a:r>
            <a:r>
              <a:rPr sz="1150" b="1">
                <a:solidFill>
                  <a:srgbClr val="548235"/>
                </a:solidFill>
                <a:latin typeface="Calibri"/>
              </a:rPr>
              <a:t>1.4 → 4.0 → 8.0  (climbs)</a:t>
            </a:r>
          </a:p>
        </p:txBody>
      </p:sp>
      <p:sp>
        <p:nvSpPr>
          <p:cNvPr id="12" name="TextBox 11"/>
          <p:cNvSpPr txBox="1"/>
          <p:nvPr/>
        </p:nvSpPr>
        <p:spPr>
          <a:xfrm>
            <a:off x="658368" y="3456432"/>
            <a:ext cx="5074920" cy="868680"/>
          </a:xfrm>
          <a:prstGeom prst="rect">
            <a:avLst/>
          </a:prstGeom>
          <a:noFill/>
        </p:spPr>
        <p:txBody>
          <a:bodyPr wrap="square" anchor="t">
            <a:spAutoFit/>
          </a:bodyPr>
          <a:lstStyle/>
          <a:p>
            <a:pPr algn="l">
              <a:spcAft>
                <a:spcPts val="200"/>
              </a:spcAft>
            </a:pPr>
            <a:r>
              <a:rPr sz="1100" b="0">
                <a:solidFill>
                  <a:srgbClr val="222222"/>
                </a:solidFill>
                <a:latin typeface="Calibri"/>
              </a:rPr>
              <a:t>r8:  “no free vehicles, I'll use the quickest non-helicopter option… hoping the system can deliver.”  (struggles early)</a:t>
            </a:r>
          </a:p>
        </p:txBody>
      </p:sp>
      <p:sp>
        <p:nvSpPr>
          <p:cNvPr id="13" name="TextBox 12"/>
          <p:cNvSpPr txBox="1"/>
          <p:nvPr/>
        </p:nvSpPr>
        <p:spPr>
          <a:xfrm>
            <a:off x="658368" y="4297680"/>
            <a:ext cx="5074920" cy="868680"/>
          </a:xfrm>
          <a:prstGeom prst="rect">
            <a:avLst/>
          </a:prstGeom>
          <a:noFill/>
        </p:spPr>
        <p:txBody>
          <a:bodyPr wrap="square" anchor="t">
            <a:spAutoFit/>
          </a:bodyPr>
          <a:lstStyle/>
          <a:p>
            <a:pPr algn="l">
              <a:spcAft>
                <a:spcPts val="200"/>
              </a:spcAft>
            </a:pPr>
            <a:r>
              <a:rPr sz="1100" b="0">
                <a:solidFill>
                  <a:srgbClr val="222222"/>
                </a:solidFill>
                <a:latin typeface="Calibri"/>
              </a:rPr>
              <a:t>r24: “Food is the immediate crisis… I will staff the newly built Kitchen_11 to double food production.”</a:t>
            </a:r>
          </a:p>
        </p:txBody>
      </p:sp>
      <p:sp>
        <p:nvSpPr>
          <p:cNvPr id="14" name="Rectangle 13"/>
          <p:cNvSpPr/>
          <p:nvPr/>
        </p:nvSpPr>
        <p:spPr>
          <a:xfrm>
            <a:off x="457200" y="5788152"/>
            <a:ext cx="5486400" cy="566928"/>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5120640" cy="566928"/>
          </a:xfrm>
          <a:prstGeom prst="rect">
            <a:avLst/>
          </a:prstGeom>
          <a:noFill/>
        </p:spPr>
        <p:txBody>
          <a:bodyPr wrap="square" anchor="ctr">
            <a:spAutoFit/>
          </a:bodyPr>
          <a:lstStyle/>
          <a:p>
            <a:pPr algn="l"/>
            <a:r>
              <a:rPr sz="1100" b="1">
                <a:solidFill>
                  <a:srgbClr val="FFFFFF"/>
                </a:solidFill>
                <a:latin typeface="Calibri"/>
              </a:rPr>
              <a:t>Diagnoses the bottleneck as SUPPLY, not routing — the only model that scales kitchens in response. Its food supply is the only one that grows.</a:t>
            </a:r>
          </a:p>
        </p:txBody>
      </p:sp>
      <p:sp>
        <p:nvSpPr>
          <p:cNvPr id="16" name="Rounded Rectangle 15"/>
          <p:cNvSpPr/>
          <p:nvPr/>
        </p:nvSpPr>
        <p:spPr>
          <a:xfrm>
            <a:off x="6245352" y="1627632"/>
            <a:ext cx="5486400" cy="4160520"/>
          </a:xfrm>
          <a:prstGeom prst="roundRect">
            <a:avLst/>
          </a:prstGeom>
          <a:solidFill>
            <a:srgbClr val="FFFFFF"/>
          </a:solidFill>
          <a:ln w="1905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1627632"/>
            <a:ext cx="5486400" cy="868680"/>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664208"/>
            <a:ext cx="5120640" cy="457200"/>
          </a:xfrm>
          <a:prstGeom prst="rect">
            <a:avLst/>
          </a:prstGeom>
          <a:noFill/>
        </p:spPr>
        <p:txBody>
          <a:bodyPr wrap="square" anchor="ctr">
            <a:spAutoFit/>
          </a:bodyPr>
          <a:lstStyle/>
          <a:p>
            <a:pPr algn="l"/>
            <a:r>
              <a:rPr sz="1900" b="1">
                <a:solidFill>
                  <a:srgbClr val="FFFFFF"/>
                </a:solidFill>
                <a:latin typeface="Calibri"/>
              </a:rPr>
              <a:t>claude-opus-4.8</a:t>
            </a:r>
          </a:p>
        </p:txBody>
      </p:sp>
      <p:sp>
        <p:nvSpPr>
          <p:cNvPr id="19" name="TextBox 18"/>
          <p:cNvSpPr txBox="1"/>
          <p:nvPr/>
        </p:nvSpPr>
        <p:spPr>
          <a:xfrm>
            <a:off x="6446520" y="2103120"/>
            <a:ext cx="5120640" cy="365760"/>
          </a:xfrm>
          <a:prstGeom prst="rect">
            <a:avLst/>
          </a:prstGeom>
          <a:noFill/>
        </p:spPr>
        <p:txBody>
          <a:bodyPr wrap="square" anchor="t">
            <a:spAutoFit/>
          </a:bodyPr>
          <a:lstStyle/>
          <a:p>
            <a:pPr algn="l"/>
            <a:r>
              <a:rPr sz="1300" b="1">
                <a:solidFill>
                  <a:srgbClr val="FFFFFF"/>
                </a:solidFill>
                <a:latin typeface="Calibri"/>
              </a:rPr>
              <a:t>the cost-trap</a:t>
            </a:r>
          </a:p>
        </p:txBody>
      </p:sp>
      <p:sp>
        <p:nvSpPr>
          <p:cNvPr id="20" name="TextBox 19"/>
          <p:cNvSpPr txBox="1"/>
          <p:nvPr/>
        </p:nvSpPr>
        <p:spPr>
          <a:xfrm>
            <a:off x="6446520" y="2606040"/>
            <a:ext cx="5120640" cy="411480"/>
          </a:xfrm>
          <a:prstGeom prst="rect">
            <a:avLst/>
          </a:prstGeom>
          <a:noFill/>
        </p:spPr>
        <p:txBody>
          <a:bodyPr wrap="square" anchor="t">
            <a:spAutoFit/>
          </a:bodyPr>
          <a:lstStyle/>
          <a:p>
            <a:pPr algn="l"/>
            <a:r>
              <a:rPr sz="1300" b="1">
                <a:solidFill>
                  <a:srgbClr val="C03A2B"/>
                </a:solidFill>
                <a:latin typeface="Calibri"/>
              </a:rPr>
              <a:t>score 1.49</a:t>
            </a:r>
            <a:r>
              <a:rPr sz="1300" b="0">
                <a:solidFill>
                  <a:srgbClr val="595959"/>
                </a:solidFill>
                <a:latin typeface="Calibri"/>
              </a:rPr>
              <a:t>   ·   </a:t>
            </a:r>
            <a:r>
              <a:rPr sz="1300" b="1">
                <a:solidFill>
                  <a:srgbClr val="C03A2B"/>
                </a:solidFill>
                <a:latin typeface="Calibri"/>
              </a:rPr>
              <a:t>food 0.00</a:t>
            </a:r>
          </a:p>
        </p:txBody>
      </p:sp>
      <p:sp>
        <p:nvSpPr>
          <p:cNvPr id="21" name="TextBox 20"/>
          <p:cNvSpPr txBox="1"/>
          <p:nvPr/>
        </p:nvSpPr>
        <p:spPr>
          <a:xfrm>
            <a:off x="6446520" y="3017520"/>
            <a:ext cx="5120640" cy="365760"/>
          </a:xfrm>
          <a:prstGeom prst="rect">
            <a:avLst/>
          </a:prstGeom>
          <a:noFill/>
        </p:spPr>
        <p:txBody>
          <a:bodyPr wrap="square" anchor="t">
            <a:spAutoFit/>
          </a:bodyPr>
          <a:lstStyle/>
          <a:p>
            <a:pPr algn="l"/>
            <a:r>
              <a:rPr sz="1150" b="1">
                <a:solidFill>
                  <a:srgbClr val="222222"/>
                </a:solidFill>
                <a:latin typeface="Calibri"/>
              </a:rPr>
              <a:t>food delivered / round:  </a:t>
            </a:r>
            <a:r>
              <a:rPr sz="1150" b="1">
                <a:solidFill>
                  <a:srgbClr val="C03A2B"/>
                </a:solidFill>
                <a:latin typeface="Calibri"/>
              </a:rPr>
              <a:t>0.0 → 0.0 → 0.0  (flatline)</a:t>
            </a:r>
          </a:p>
        </p:txBody>
      </p:sp>
      <p:sp>
        <p:nvSpPr>
          <p:cNvPr id="22" name="TextBox 21"/>
          <p:cNvSpPr txBox="1"/>
          <p:nvPr/>
        </p:nvSpPr>
        <p:spPr>
          <a:xfrm>
            <a:off x="6446520" y="3456432"/>
            <a:ext cx="5074920" cy="868680"/>
          </a:xfrm>
          <a:prstGeom prst="rect">
            <a:avLst/>
          </a:prstGeom>
          <a:noFill/>
        </p:spPr>
        <p:txBody>
          <a:bodyPr wrap="square" anchor="t">
            <a:spAutoFit/>
          </a:bodyPr>
          <a:lstStyle/>
          <a:p>
            <a:pPr algn="l">
              <a:spcAft>
                <a:spcPts val="200"/>
              </a:spcAft>
            </a:pPr>
            <a:r>
              <a:rPr sz="1100" b="0">
                <a:solidFill>
                  <a:srgbClr val="222222"/>
                </a:solidFill>
                <a:latin typeface="Calibri"/>
              </a:rPr>
              <a:t>r8:  “serve them via kitchens (cheap option 0)… without helicopter waste.”</a:t>
            </a:r>
          </a:p>
        </p:txBody>
      </p:sp>
      <p:sp>
        <p:nvSpPr>
          <p:cNvPr id="23" name="TextBox 22"/>
          <p:cNvSpPr txBox="1"/>
          <p:nvPr/>
        </p:nvSpPr>
        <p:spPr>
          <a:xfrm>
            <a:off x="6446520" y="4297680"/>
            <a:ext cx="5074920" cy="868680"/>
          </a:xfrm>
          <a:prstGeom prst="rect">
            <a:avLst/>
          </a:prstGeom>
          <a:noFill/>
        </p:spPr>
        <p:txBody>
          <a:bodyPr wrap="square" anchor="t">
            <a:spAutoFit/>
          </a:bodyPr>
          <a:lstStyle/>
          <a:p>
            <a:pPr algn="l">
              <a:spcAft>
                <a:spcPts val="200"/>
              </a:spcAft>
            </a:pPr>
            <a:r>
              <a:rPr sz="1100" b="0">
                <a:solidFill>
                  <a:srgbClr val="222222"/>
                </a:solidFill>
                <a:latin typeface="Calibri"/>
              </a:rPr>
              <a:t>r24: “satisfaction is maxed… no active tasks… conserve budget rather than overspend.”  (stops acting, still holds cash)</a:t>
            </a:r>
          </a:p>
        </p:txBody>
      </p:sp>
      <p:sp>
        <p:nvSpPr>
          <p:cNvPr id="24" name="Rectangle 23"/>
          <p:cNvSpPr/>
          <p:nvPr/>
        </p:nvSpPr>
        <p:spPr>
          <a:xfrm>
            <a:off x="6245352" y="5788152"/>
            <a:ext cx="5486400" cy="566928"/>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788152"/>
            <a:ext cx="5120640" cy="566928"/>
          </a:xfrm>
          <a:prstGeom prst="rect">
            <a:avLst/>
          </a:prstGeom>
          <a:noFill/>
        </p:spPr>
        <p:txBody>
          <a:bodyPr wrap="square" anchor="ctr">
            <a:spAutoFit/>
          </a:bodyPr>
          <a:lstStyle/>
          <a:p>
            <a:pPr algn="l"/>
            <a:r>
              <a:rPr sz="1100" b="1">
                <a:solidFill>
                  <a:srgbClr val="FFFFFF"/>
                </a:solidFill>
                <a:latin typeface="Calibri"/>
              </a:rPr>
              <a:t>Pays the MOST for kitchens yet ships zero food: refuses the one reliable delivery channel as ‘waste,’ then idles. The case RL must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